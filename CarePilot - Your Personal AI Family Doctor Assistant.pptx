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Oranienbaum" charset="-122" pitchFamily="34"/>
      <p:regular r:id="rId17"/>
    </p:embeddedFon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6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kodytechnolab.com/873affdf34945e06605152139db7ba0fc004a56d.webp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A6B5C">
                  <a:alpha val="95000"/>
                </a:srgbClr>
              </a:gs>
              <a:gs pos="50000">
                <a:srgbClr val="5A6B5C">
                  <a:alpha val="85000"/>
                </a:srgbClr>
              </a:gs>
              <a:gs pos="100000">
                <a:srgbClr val="3D3A37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2621756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F8F7F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CarePilot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3688556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3974306"/>
            <a:ext cx="74580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first proactive AI family doctor with hands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6719" y="467439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8" name="Text 5"/>
          <p:cNvSpPr/>
          <p:nvPr/>
        </p:nvSpPr>
        <p:spPr>
          <a:xfrm>
            <a:off x="733425" y="4636294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7F5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February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091" y="349091"/>
            <a:ext cx="11554909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spc="96" kern="0" dirty="0">
                <a:solidFill>
                  <a:srgbClr val="D88C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091" y="593455"/>
            <a:ext cx="11703273" cy="1047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99" b="1" dirty="0">
                <a:solidFill>
                  <a:srgbClr val="3D3A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Affordable and accessible Healthcare is a Right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091" y="1640727"/>
            <a:ext cx="10930884" cy="1186909"/>
          </a:xfrm>
          <a:custGeom>
            <a:avLst/>
            <a:gdLst/>
            <a:ahLst/>
            <a:cxnLst/>
            <a:rect l="l" t="t" r="r" b="b"/>
            <a:pathLst>
              <a:path w="10930884" h="1186909">
                <a:moveTo>
                  <a:pt x="67788" y="0"/>
                </a:moveTo>
                <a:lnTo>
                  <a:pt x="10727508" y="0"/>
                </a:lnTo>
                <a:cubicBezTo>
                  <a:pt x="10839830" y="0"/>
                  <a:pt x="10930884" y="46890"/>
                  <a:pt x="10930884" y="104733"/>
                </a:cubicBezTo>
                <a:lnTo>
                  <a:pt x="10930884" y="1082176"/>
                </a:lnTo>
                <a:cubicBezTo>
                  <a:pt x="10930884" y="1140019"/>
                  <a:pt x="10839830" y="1186909"/>
                  <a:pt x="10727508" y="1186909"/>
                </a:cubicBezTo>
                <a:lnTo>
                  <a:pt x="67788" y="1186909"/>
                </a:lnTo>
                <a:cubicBezTo>
                  <a:pt x="30350" y="1186909"/>
                  <a:pt x="0" y="1171280"/>
                  <a:pt x="0" y="1152000"/>
                </a:cubicBezTo>
                <a:lnTo>
                  <a:pt x="0" y="34909"/>
                </a:lnTo>
                <a:cubicBezTo>
                  <a:pt x="0" y="15642"/>
                  <a:pt x="30375" y="0"/>
                  <a:pt x="677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182" dist="8727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9091" y="1640727"/>
            <a:ext cx="34909" cy="1186909"/>
          </a:xfrm>
          <a:custGeom>
            <a:avLst/>
            <a:gdLst/>
            <a:ahLst/>
            <a:cxnLst/>
            <a:rect l="l" t="t" r="r" b="b"/>
            <a:pathLst>
              <a:path w="34909" h="1186909">
                <a:moveTo>
                  <a:pt x="34909" y="0"/>
                </a:moveTo>
                <a:lnTo>
                  <a:pt x="34909" y="0"/>
                </a:lnTo>
                <a:lnTo>
                  <a:pt x="34909" y="1186909"/>
                </a:lnTo>
                <a:lnTo>
                  <a:pt x="34909" y="1186909"/>
                </a:lnTo>
                <a:cubicBezTo>
                  <a:pt x="15629" y="1186909"/>
                  <a:pt x="0" y="1171280"/>
                  <a:pt x="0" y="1152000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6" name="Shape 4"/>
          <p:cNvSpPr/>
          <p:nvPr/>
        </p:nvSpPr>
        <p:spPr>
          <a:xfrm>
            <a:off x="576000" y="2024727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209455" y="0"/>
                </a:moveTo>
                <a:lnTo>
                  <a:pt x="209455" y="0"/>
                </a:lnTo>
                <a:cubicBezTo>
                  <a:pt x="325056" y="0"/>
                  <a:pt x="418909" y="93853"/>
                  <a:pt x="418909" y="209455"/>
                </a:cubicBezTo>
                <a:lnTo>
                  <a:pt x="418909" y="209455"/>
                </a:lnTo>
                <a:cubicBezTo>
                  <a:pt x="418909" y="325056"/>
                  <a:pt x="325056" y="418909"/>
                  <a:pt x="209455" y="418909"/>
                </a:cubicBezTo>
                <a:lnTo>
                  <a:pt x="209455" y="418909"/>
                </a:lnTo>
                <a:cubicBezTo>
                  <a:pt x="93853" y="418909"/>
                  <a:pt x="0" y="325056"/>
                  <a:pt x="0" y="209455"/>
                </a:cubicBezTo>
                <a:lnTo>
                  <a:pt x="0" y="209455"/>
                </a:lnTo>
                <a:cubicBezTo>
                  <a:pt x="0" y="93853"/>
                  <a:pt x="93853" y="0"/>
                  <a:pt x="209455" y="0"/>
                </a:cubicBezTo>
                <a:close/>
              </a:path>
            </a:pathLst>
          </a:custGeom>
          <a:solidFill>
            <a:srgbClr val="D88C72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182" y="2146909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21818" y="38182"/>
                </a:moveTo>
                <a:cubicBezTo>
                  <a:pt x="21818" y="29148"/>
                  <a:pt x="29148" y="21818"/>
                  <a:pt x="38182" y="21818"/>
                </a:cubicBezTo>
                <a:cubicBezTo>
                  <a:pt x="47216" y="21818"/>
                  <a:pt x="54545" y="29148"/>
                  <a:pt x="54545" y="38182"/>
                </a:cubicBezTo>
                <a:lnTo>
                  <a:pt x="54545" y="76364"/>
                </a:lnTo>
                <a:lnTo>
                  <a:pt x="21818" y="76364"/>
                </a:lnTo>
                <a:lnTo>
                  <a:pt x="21818" y="38182"/>
                </a:lnTo>
                <a:close/>
                <a:moveTo>
                  <a:pt x="60000" y="125455"/>
                </a:moveTo>
                <a:cubicBezTo>
                  <a:pt x="60000" y="108852"/>
                  <a:pt x="66170" y="93682"/>
                  <a:pt x="76364" y="82159"/>
                </a:cubicBezTo>
                <a:lnTo>
                  <a:pt x="76364" y="38182"/>
                </a:lnTo>
                <a:cubicBezTo>
                  <a:pt x="76364" y="17080"/>
                  <a:pt x="59284" y="0"/>
                  <a:pt x="38182" y="0"/>
                </a:cubicBezTo>
                <a:cubicBezTo>
                  <a:pt x="17080" y="0"/>
                  <a:pt x="0" y="17080"/>
                  <a:pt x="0" y="38182"/>
                </a:cubicBezTo>
                <a:lnTo>
                  <a:pt x="0" y="136364"/>
                </a:lnTo>
                <a:cubicBezTo>
                  <a:pt x="0" y="157466"/>
                  <a:pt x="17080" y="174545"/>
                  <a:pt x="38182" y="174545"/>
                </a:cubicBezTo>
                <a:cubicBezTo>
                  <a:pt x="50898" y="174545"/>
                  <a:pt x="62148" y="168341"/>
                  <a:pt x="69102" y="158761"/>
                </a:cubicBezTo>
                <a:cubicBezTo>
                  <a:pt x="63307" y="149011"/>
                  <a:pt x="60000" y="137625"/>
                  <a:pt x="60000" y="125455"/>
                </a:cubicBezTo>
                <a:close/>
                <a:moveTo>
                  <a:pt x="82057" y="148432"/>
                </a:moveTo>
                <a:cubicBezTo>
                  <a:pt x="83625" y="151398"/>
                  <a:pt x="87614" y="151739"/>
                  <a:pt x="90000" y="149352"/>
                </a:cubicBezTo>
                <a:lnTo>
                  <a:pt x="149352" y="90000"/>
                </a:lnTo>
                <a:cubicBezTo>
                  <a:pt x="151739" y="87614"/>
                  <a:pt x="151398" y="83625"/>
                  <a:pt x="148432" y="82057"/>
                </a:cubicBezTo>
                <a:cubicBezTo>
                  <a:pt x="141580" y="78409"/>
                  <a:pt x="133773" y="76364"/>
                  <a:pt x="125455" y="76364"/>
                </a:cubicBezTo>
                <a:cubicBezTo>
                  <a:pt x="98352" y="76364"/>
                  <a:pt x="76364" y="98352"/>
                  <a:pt x="76364" y="125455"/>
                </a:cubicBezTo>
                <a:cubicBezTo>
                  <a:pt x="76364" y="133739"/>
                  <a:pt x="78409" y="141580"/>
                  <a:pt x="82057" y="148432"/>
                </a:cubicBezTo>
                <a:close/>
                <a:moveTo>
                  <a:pt x="101557" y="160909"/>
                </a:moveTo>
                <a:cubicBezTo>
                  <a:pt x="99170" y="163295"/>
                  <a:pt x="99511" y="167284"/>
                  <a:pt x="102477" y="168852"/>
                </a:cubicBezTo>
                <a:cubicBezTo>
                  <a:pt x="109330" y="172500"/>
                  <a:pt x="117136" y="174545"/>
                  <a:pt x="125455" y="174545"/>
                </a:cubicBezTo>
                <a:cubicBezTo>
                  <a:pt x="152557" y="174545"/>
                  <a:pt x="174545" y="152557"/>
                  <a:pt x="174545" y="125455"/>
                </a:cubicBezTo>
                <a:cubicBezTo>
                  <a:pt x="174545" y="117170"/>
                  <a:pt x="172500" y="109330"/>
                  <a:pt x="168852" y="102477"/>
                </a:cubicBezTo>
                <a:cubicBezTo>
                  <a:pt x="167284" y="99511"/>
                  <a:pt x="163295" y="99170"/>
                  <a:pt x="160909" y="101557"/>
                </a:cubicBezTo>
                <a:lnTo>
                  <a:pt x="101557" y="160909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8" name="Text 6"/>
          <p:cNvSpPr/>
          <p:nvPr/>
        </p:nvSpPr>
        <p:spPr>
          <a:xfrm>
            <a:off x="1134545" y="1850182"/>
            <a:ext cx="8110777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Seeing a doctor is often very expensive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4545" y="2164364"/>
            <a:ext cx="9665799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US healthcare system is owned by greedy entities that will charge hundreds for a simple doctor’s visit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9091" y="3331913"/>
            <a:ext cx="10930884" cy="1186909"/>
          </a:xfrm>
          <a:custGeom>
            <a:avLst/>
            <a:gdLst/>
            <a:ahLst/>
            <a:cxnLst/>
            <a:rect l="l" t="t" r="r" b="b"/>
            <a:pathLst>
              <a:path w="10930884" h="1186909">
                <a:moveTo>
                  <a:pt x="67788" y="0"/>
                </a:moveTo>
                <a:lnTo>
                  <a:pt x="10727508" y="0"/>
                </a:lnTo>
                <a:cubicBezTo>
                  <a:pt x="10839830" y="0"/>
                  <a:pt x="10930884" y="46890"/>
                  <a:pt x="10930884" y="104733"/>
                </a:cubicBezTo>
                <a:lnTo>
                  <a:pt x="10930884" y="1082176"/>
                </a:lnTo>
                <a:cubicBezTo>
                  <a:pt x="10930884" y="1140019"/>
                  <a:pt x="10839830" y="1186909"/>
                  <a:pt x="10727508" y="1186909"/>
                </a:cubicBezTo>
                <a:lnTo>
                  <a:pt x="67788" y="1186909"/>
                </a:lnTo>
                <a:cubicBezTo>
                  <a:pt x="30350" y="1186909"/>
                  <a:pt x="0" y="1171280"/>
                  <a:pt x="0" y="1152000"/>
                </a:cubicBezTo>
                <a:lnTo>
                  <a:pt x="0" y="34909"/>
                </a:lnTo>
                <a:cubicBezTo>
                  <a:pt x="0" y="15642"/>
                  <a:pt x="30375" y="0"/>
                  <a:pt x="677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182" dist="8727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091" y="3331913"/>
            <a:ext cx="34909" cy="1186909"/>
          </a:xfrm>
          <a:custGeom>
            <a:avLst/>
            <a:gdLst/>
            <a:ahLst/>
            <a:cxnLst/>
            <a:rect l="l" t="t" r="r" b="b"/>
            <a:pathLst>
              <a:path w="34909" h="1186909">
                <a:moveTo>
                  <a:pt x="34909" y="0"/>
                </a:moveTo>
                <a:lnTo>
                  <a:pt x="34909" y="0"/>
                </a:lnTo>
                <a:lnTo>
                  <a:pt x="34909" y="1186909"/>
                </a:lnTo>
                <a:lnTo>
                  <a:pt x="34909" y="1186909"/>
                </a:lnTo>
                <a:cubicBezTo>
                  <a:pt x="15629" y="1186909"/>
                  <a:pt x="0" y="1171280"/>
                  <a:pt x="0" y="1152000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00" y="3715913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209455" y="0"/>
                </a:moveTo>
                <a:lnTo>
                  <a:pt x="209455" y="0"/>
                </a:lnTo>
                <a:cubicBezTo>
                  <a:pt x="325056" y="0"/>
                  <a:pt x="418909" y="93853"/>
                  <a:pt x="418909" y="209455"/>
                </a:cubicBezTo>
                <a:lnTo>
                  <a:pt x="418909" y="209455"/>
                </a:lnTo>
                <a:cubicBezTo>
                  <a:pt x="418909" y="325056"/>
                  <a:pt x="325056" y="418909"/>
                  <a:pt x="209455" y="418909"/>
                </a:cubicBezTo>
                <a:lnTo>
                  <a:pt x="209455" y="418909"/>
                </a:lnTo>
                <a:cubicBezTo>
                  <a:pt x="93853" y="418909"/>
                  <a:pt x="0" y="325056"/>
                  <a:pt x="0" y="209455"/>
                </a:cubicBezTo>
                <a:lnTo>
                  <a:pt x="0" y="209455"/>
                </a:lnTo>
                <a:cubicBezTo>
                  <a:pt x="0" y="93853"/>
                  <a:pt x="93853" y="0"/>
                  <a:pt x="209455" y="0"/>
                </a:cubicBezTo>
                <a:close/>
              </a:path>
            </a:pathLst>
          </a:custGeom>
          <a:solidFill>
            <a:srgbClr val="5A6B5C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09091" y="3838095"/>
            <a:ext cx="152727" cy="174545"/>
          </a:xfrm>
          <a:custGeom>
            <a:avLst/>
            <a:gdLst/>
            <a:ahLst/>
            <a:cxnLst/>
            <a:rect l="l" t="t" r="r" b="b"/>
            <a:pathLst>
              <a:path w="152727" h="174545">
                <a:moveTo>
                  <a:pt x="43636" y="0"/>
                </a:moveTo>
                <a:cubicBezTo>
                  <a:pt x="49670" y="0"/>
                  <a:pt x="54545" y="4875"/>
                  <a:pt x="54545" y="10909"/>
                </a:cubicBezTo>
                <a:lnTo>
                  <a:pt x="54545" y="21818"/>
                </a:lnTo>
                <a:lnTo>
                  <a:pt x="98182" y="21818"/>
                </a:lnTo>
                <a:lnTo>
                  <a:pt x="98182" y="10909"/>
                </a:lnTo>
                <a:cubicBezTo>
                  <a:pt x="98182" y="4875"/>
                  <a:pt x="103057" y="0"/>
                  <a:pt x="109091" y="0"/>
                </a:cubicBezTo>
                <a:cubicBezTo>
                  <a:pt x="115125" y="0"/>
                  <a:pt x="120000" y="4875"/>
                  <a:pt x="120000" y="10909"/>
                </a:cubicBezTo>
                <a:lnTo>
                  <a:pt x="120000" y="21818"/>
                </a:lnTo>
                <a:lnTo>
                  <a:pt x="130909" y="21818"/>
                </a:lnTo>
                <a:cubicBezTo>
                  <a:pt x="142943" y="21818"/>
                  <a:pt x="152727" y="31602"/>
                  <a:pt x="152727" y="43636"/>
                </a:cubicBezTo>
                <a:lnTo>
                  <a:pt x="152727" y="141818"/>
                </a:lnTo>
                <a:cubicBezTo>
                  <a:pt x="152727" y="153852"/>
                  <a:pt x="142943" y="163636"/>
                  <a:pt x="130909" y="163636"/>
                </a:cubicBezTo>
                <a:lnTo>
                  <a:pt x="21818" y="163636"/>
                </a:lnTo>
                <a:cubicBezTo>
                  <a:pt x="9784" y="163636"/>
                  <a:pt x="0" y="153852"/>
                  <a:pt x="0" y="141818"/>
                </a:cubicBezTo>
                <a:lnTo>
                  <a:pt x="0" y="43636"/>
                </a:lnTo>
                <a:cubicBezTo>
                  <a:pt x="0" y="31602"/>
                  <a:pt x="9784" y="21818"/>
                  <a:pt x="21818" y="21818"/>
                </a:cubicBezTo>
                <a:lnTo>
                  <a:pt x="32727" y="21818"/>
                </a:lnTo>
                <a:lnTo>
                  <a:pt x="32727" y="10909"/>
                </a:lnTo>
                <a:cubicBezTo>
                  <a:pt x="32727" y="4875"/>
                  <a:pt x="37602" y="0"/>
                  <a:pt x="43636" y="0"/>
                </a:cubicBezTo>
                <a:close/>
                <a:moveTo>
                  <a:pt x="105136" y="77966"/>
                </a:moveTo>
                <a:cubicBezTo>
                  <a:pt x="107523" y="74148"/>
                  <a:pt x="106364" y="69102"/>
                  <a:pt x="102545" y="66682"/>
                </a:cubicBezTo>
                <a:cubicBezTo>
                  <a:pt x="98727" y="64261"/>
                  <a:pt x="93682" y="65455"/>
                  <a:pt x="91261" y="69273"/>
                </a:cubicBezTo>
                <a:lnTo>
                  <a:pt x="70330" y="102784"/>
                </a:lnTo>
                <a:lnTo>
                  <a:pt x="61125" y="90511"/>
                </a:lnTo>
                <a:cubicBezTo>
                  <a:pt x="58398" y="86898"/>
                  <a:pt x="53284" y="86148"/>
                  <a:pt x="49670" y="88875"/>
                </a:cubicBezTo>
                <a:cubicBezTo>
                  <a:pt x="46057" y="91602"/>
                  <a:pt x="45307" y="96716"/>
                  <a:pt x="48034" y="100330"/>
                </a:cubicBezTo>
                <a:lnTo>
                  <a:pt x="64398" y="122148"/>
                </a:lnTo>
                <a:cubicBezTo>
                  <a:pt x="66000" y="124295"/>
                  <a:pt x="68591" y="125523"/>
                  <a:pt x="71284" y="125420"/>
                </a:cubicBezTo>
                <a:cubicBezTo>
                  <a:pt x="73977" y="125318"/>
                  <a:pt x="76432" y="123886"/>
                  <a:pt x="77864" y="121568"/>
                </a:cubicBezTo>
                <a:lnTo>
                  <a:pt x="105136" y="77932"/>
                </a:ln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1134545" y="3541368"/>
            <a:ext cx="6580801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Family doctors have hundreds of patients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4545" y="3855549"/>
            <a:ext cx="9389553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 the person in the healthcare system that knows you the best can only know you on a surface level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9091" y="5004891"/>
            <a:ext cx="10930884" cy="1186909"/>
          </a:xfrm>
          <a:custGeom>
            <a:avLst/>
            <a:gdLst/>
            <a:ahLst/>
            <a:cxnLst/>
            <a:rect l="l" t="t" r="r" b="b"/>
            <a:pathLst>
              <a:path w="10930884" h="1186909">
                <a:moveTo>
                  <a:pt x="67788" y="0"/>
                </a:moveTo>
                <a:lnTo>
                  <a:pt x="10727508" y="0"/>
                </a:lnTo>
                <a:cubicBezTo>
                  <a:pt x="10839830" y="0"/>
                  <a:pt x="10930884" y="46890"/>
                  <a:pt x="10930884" y="104733"/>
                </a:cubicBezTo>
                <a:lnTo>
                  <a:pt x="10930884" y="1082176"/>
                </a:lnTo>
                <a:cubicBezTo>
                  <a:pt x="10930884" y="1140019"/>
                  <a:pt x="10839830" y="1186909"/>
                  <a:pt x="10727508" y="1186909"/>
                </a:cubicBezTo>
                <a:lnTo>
                  <a:pt x="67788" y="1186909"/>
                </a:lnTo>
                <a:cubicBezTo>
                  <a:pt x="30350" y="1186909"/>
                  <a:pt x="0" y="1171280"/>
                  <a:pt x="0" y="1152000"/>
                </a:cubicBezTo>
                <a:lnTo>
                  <a:pt x="0" y="34909"/>
                </a:lnTo>
                <a:cubicBezTo>
                  <a:pt x="0" y="15642"/>
                  <a:pt x="30375" y="0"/>
                  <a:pt x="677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182" dist="8727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9091" y="5004891"/>
            <a:ext cx="34909" cy="1186909"/>
          </a:xfrm>
          <a:custGeom>
            <a:avLst/>
            <a:gdLst/>
            <a:ahLst/>
            <a:cxnLst/>
            <a:rect l="l" t="t" r="r" b="b"/>
            <a:pathLst>
              <a:path w="34909" h="1186909">
                <a:moveTo>
                  <a:pt x="34909" y="0"/>
                </a:moveTo>
                <a:lnTo>
                  <a:pt x="34909" y="0"/>
                </a:lnTo>
                <a:lnTo>
                  <a:pt x="34909" y="1186909"/>
                </a:lnTo>
                <a:lnTo>
                  <a:pt x="34909" y="1186909"/>
                </a:lnTo>
                <a:cubicBezTo>
                  <a:pt x="15629" y="1186909"/>
                  <a:pt x="0" y="1171280"/>
                  <a:pt x="0" y="1152000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C5C1B9"/>
          </a:solidFill>
          <a:ln/>
        </p:spPr>
      </p:sp>
      <p:sp>
        <p:nvSpPr>
          <p:cNvPr id="18" name="Shape 16"/>
          <p:cNvSpPr/>
          <p:nvPr/>
        </p:nvSpPr>
        <p:spPr>
          <a:xfrm>
            <a:off x="576000" y="5388891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209455" y="0"/>
                </a:moveTo>
                <a:lnTo>
                  <a:pt x="209455" y="0"/>
                </a:lnTo>
                <a:cubicBezTo>
                  <a:pt x="325056" y="0"/>
                  <a:pt x="418909" y="93853"/>
                  <a:pt x="418909" y="209455"/>
                </a:cubicBezTo>
                <a:lnTo>
                  <a:pt x="418909" y="209455"/>
                </a:lnTo>
                <a:cubicBezTo>
                  <a:pt x="418909" y="325056"/>
                  <a:pt x="325056" y="418909"/>
                  <a:pt x="209455" y="418909"/>
                </a:cubicBezTo>
                <a:lnTo>
                  <a:pt x="209455" y="418909"/>
                </a:lnTo>
                <a:cubicBezTo>
                  <a:pt x="93853" y="418909"/>
                  <a:pt x="0" y="325056"/>
                  <a:pt x="0" y="209455"/>
                </a:cubicBezTo>
                <a:lnTo>
                  <a:pt x="0" y="209455"/>
                </a:lnTo>
                <a:cubicBezTo>
                  <a:pt x="0" y="93853"/>
                  <a:pt x="93853" y="0"/>
                  <a:pt x="209455" y="0"/>
                </a:cubicBezTo>
                <a:close/>
              </a:path>
            </a:pathLst>
          </a:custGeom>
          <a:solidFill>
            <a:srgbClr val="C5C1B9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8182" y="5511073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116795" y="3205"/>
                </a:moveTo>
                <a:cubicBezTo>
                  <a:pt x="112534" y="-1057"/>
                  <a:pt x="105614" y="-1057"/>
                  <a:pt x="101352" y="3205"/>
                </a:cubicBezTo>
                <a:cubicBezTo>
                  <a:pt x="97091" y="7466"/>
                  <a:pt x="97091" y="14386"/>
                  <a:pt x="101352" y="18648"/>
                </a:cubicBezTo>
                <a:lnTo>
                  <a:pt x="104557" y="21818"/>
                </a:lnTo>
                <a:lnTo>
                  <a:pt x="9580" y="116795"/>
                </a:lnTo>
                <a:cubicBezTo>
                  <a:pt x="3443" y="122932"/>
                  <a:pt x="0" y="131250"/>
                  <a:pt x="0" y="139943"/>
                </a:cubicBezTo>
                <a:lnTo>
                  <a:pt x="0" y="141818"/>
                </a:lnTo>
                <a:cubicBezTo>
                  <a:pt x="0" y="159886"/>
                  <a:pt x="14659" y="174545"/>
                  <a:pt x="32727" y="174545"/>
                </a:cubicBezTo>
                <a:lnTo>
                  <a:pt x="34602" y="174545"/>
                </a:lnTo>
                <a:cubicBezTo>
                  <a:pt x="43295" y="174545"/>
                  <a:pt x="51614" y="171102"/>
                  <a:pt x="57750" y="164966"/>
                </a:cubicBezTo>
                <a:lnTo>
                  <a:pt x="152727" y="69989"/>
                </a:lnTo>
                <a:lnTo>
                  <a:pt x="155932" y="73193"/>
                </a:lnTo>
                <a:cubicBezTo>
                  <a:pt x="160193" y="77455"/>
                  <a:pt x="167114" y="77455"/>
                  <a:pt x="171375" y="73193"/>
                </a:cubicBezTo>
                <a:cubicBezTo>
                  <a:pt x="175636" y="68932"/>
                  <a:pt x="175636" y="62011"/>
                  <a:pt x="171375" y="57750"/>
                </a:cubicBezTo>
                <a:lnTo>
                  <a:pt x="116830" y="3205"/>
                </a:lnTo>
                <a:close/>
                <a:moveTo>
                  <a:pt x="69989" y="87273"/>
                </a:moveTo>
                <a:lnTo>
                  <a:pt x="120000" y="37261"/>
                </a:lnTo>
                <a:lnTo>
                  <a:pt x="137284" y="54545"/>
                </a:lnTo>
                <a:lnTo>
                  <a:pt x="104557" y="87273"/>
                </a:lnTo>
                <a:lnTo>
                  <a:pt x="69955" y="87273"/>
                </a:lnTo>
                <a:close/>
              </a:path>
            </a:pathLst>
          </a:custGeom>
          <a:solidFill>
            <a:srgbClr val="C5C1B9"/>
          </a:solidFill>
          <a:ln/>
        </p:spPr>
      </p:sp>
      <p:sp>
        <p:nvSpPr>
          <p:cNvPr id="20" name="Text 18"/>
          <p:cNvSpPr/>
          <p:nvPr/>
        </p:nvSpPr>
        <p:spPr>
          <a:xfrm>
            <a:off x="1093079" y="5214346"/>
            <a:ext cx="4721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health care system is very slow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4545" y="5511073"/>
            <a:ext cx="9145182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It’s common to have to wait for days for an appointment  or hours in line to see a doctor or a specialist 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D88C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D3A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Meet CarePilot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95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Personal AI Family Doctor + Medical Secretary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714500"/>
            <a:ext cx="6162675" cy="3143250"/>
          </a:xfrm>
          <a:custGeom>
            <a:avLst/>
            <a:gdLst/>
            <a:ahLst/>
            <a:cxnLst/>
            <a:rect l="l" t="t" r="r" b="b"/>
            <a:pathLst>
              <a:path w="6162675" h="3143250">
                <a:moveTo>
                  <a:pt x="114289" y="0"/>
                </a:moveTo>
                <a:lnTo>
                  <a:pt x="6048386" y="0"/>
                </a:lnTo>
                <a:cubicBezTo>
                  <a:pt x="6111464" y="0"/>
                  <a:pt x="6162675" y="51211"/>
                  <a:pt x="6162675" y="114289"/>
                </a:cubicBezTo>
                <a:lnTo>
                  <a:pt x="6162675" y="3028961"/>
                </a:lnTo>
                <a:cubicBezTo>
                  <a:pt x="6162675" y="3092081"/>
                  <a:pt x="6111506" y="3143250"/>
                  <a:pt x="6048386" y="3143250"/>
                </a:cubicBezTo>
                <a:lnTo>
                  <a:pt x="114289" y="3143250"/>
                </a:lnTo>
                <a:cubicBezTo>
                  <a:pt x="51211" y="3143250"/>
                  <a:pt x="0" y="3092039"/>
                  <a:pt x="0" y="30289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6" name="Shape 4"/>
          <p:cNvSpPr/>
          <p:nvPr/>
        </p:nvSpPr>
        <p:spPr>
          <a:xfrm>
            <a:off x="638175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7" name="Text 5"/>
          <p:cNvSpPr/>
          <p:nvPr/>
        </p:nvSpPr>
        <p:spPr>
          <a:xfrm>
            <a:off x="895350" y="1943100"/>
            <a:ext cx="5534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CarePilot Does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413" y="2438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9" name="Text 7"/>
          <p:cNvSpPr/>
          <p:nvPr/>
        </p:nvSpPr>
        <p:spPr>
          <a:xfrm>
            <a:off x="938213" y="2400300"/>
            <a:ext cx="2623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Health Guidance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5715" y="2609850"/>
            <a:ext cx="266664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advice  based on your profile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1383" y="2438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2" name="Text 10"/>
          <p:cNvSpPr/>
          <p:nvPr/>
        </p:nvSpPr>
        <p:spPr>
          <a:xfrm>
            <a:off x="3866183" y="2400300"/>
            <a:ext cx="256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Proprietary Clinical Memory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66183" y="2628900"/>
            <a:ext cx="22298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repeat your health history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3181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5" name="Text 13"/>
          <p:cNvSpPr/>
          <p:nvPr/>
        </p:nvSpPr>
        <p:spPr>
          <a:xfrm>
            <a:off x="942975" y="3143250"/>
            <a:ext cx="2490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Health Reminders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8213" y="3352800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Timely nudges before issues arise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61383" y="3219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8" name="Text 16"/>
          <p:cNvSpPr/>
          <p:nvPr/>
        </p:nvSpPr>
        <p:spPr>
          <a:xfrm>
            <a:off x="3866183" y="318135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66183" y="3409950"/>
            <a:ext cx="21621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 labs, appointments, refills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3924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1" name="Text 19"/>
          <p:cNvSpPr/>
          <p:nvPr/>
        </p:nvSpPr>
        <p:spPr>
          <a:xfrm>
            <a:off x="942975" y="3886200"/>
            <a:ext cx="2169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Connected Health Data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2975" y="4114800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Apple Health integration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61383" y="3962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4" name="Text 22"/>
          <p:cNvSpPr/>
          <p:nvPr/>
        </p:nvSpPr>
        <p:spPr>
          <a:xfrm>
            <a:off x="3866183" y="3924300"/>
            <a:ext cx="22298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Interaction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66183" y="4152900"/>
            <a:ext cx="21621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Voice, text, document 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5010150"/>
            <a:ext cx="6143625" cy="1466850"/>
          </a:xfrm>
          <a:custGeom>
            <a:avLst/>
            <a:gdLst/>
            <a:ahLst/>
            <a:cxnLst/>
            <a:rect l="l" t="t" r="r" b="b"/>
            <a:pathLst>
              <a:path w="6143625" h="1466850">
                <a:moveTo>
                  <a:pt x="38100" y="0"/>
                </a:moveTo>
                <a:lnTo>
                  <a:pt x="6029328" y="0"/>
                </a:lnTo>
                <a:cubicBezTo>
                  <a:pt x="6092453" y="0"/>
                  <a:pt x="6143625" y="51172"/>
                  <a:pt x="6143625" y="114297"/>
                </a:cubicBezTo>
                <a:lnTo>
                  <a:pt x="6143625" y="1352553"/>
                </a:lnTo>
                <a:cubicBezTo>
                  <a:pt x="6143625" y="1415678"/>
                  <a:pt x="6092453" y="1466850"/>
                  <a:pt x="6029328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8C72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50101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8" name="Shape 26"/>
          <p:cNvSpPr/>
          <p:nvPr/>
        </p:nvSpPr>
        <p:spPr>
          <a:xfrm>
            <a:off x="647700" y="52387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9" name="Text 27"/>
          <p:cNvSpPr/>
          <p:nvPr/>
        </p:nvSpPr>
        <p:spPr>
          <a:xfrm>
            <a:off x="1119188" y="520065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Disclaimer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9188" y="5543550"/>
            <a:ext cx="5305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CarePilot is designed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users between doctor visits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replace licensed clinicians or emergency services. Safety always comes before helpfulness.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70340" y="1714500"/>
            <a:ext cx="5038725" cy="3733800"/>
          </a:xfrm>
          <a:custGeom>
            <a:avLst/>
            <a:gdLst/>
            <a:ahLst/>
            <a:cxnLst/>
            <a:rect l="l" t="t" r="r" b="b"/>
            <a:pathLst>
              <a:path w="5038725" h="3733800">
                <a:moveTo>
                  <a:pt x="114292" y="0"/>
                </a:moveTo>
                <a:lnTo>
                  <a:pt x="4924433" y="0"/>
                </a:lnTo>
                <a:cubicBezTo>
                  <a:pt x="4987555" y="0"/>
                  <a:pt x="5038725" y="51170"/>
                  <a:pt x="5038725" y="114292"/>
                </a:cubicBezTo>
                <a:lnTo>
                  <a:pt x="5038725" y="3619508"/>
                </a:lnTo>
                <a:cubicBezTo>
                  <a:pt x="5038725" y="3682630"/>
                  <a:pt x="4987555" y="3733800"/>
                  <a:pt x="4924433" y="3733800"/>
                </a:cubicBezTo>
                <a:lnTo>
                  <a:pt x="114292" y="3733800"/>
                </a:lnTo>
                <a:cubicBezTo>
                  <a:pt x="51170" y="3733800"/>
                  <a:pt x="0" y="3682630"/>
                  <a:pt x="0" y="36195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70340" y="5600700"/>
            <a:ext cx="1600200" cy="876300"/>
          </a:xfrm>
          <a:custGeom>
            <a:avLst/>
            <a:gdLst/>
            <a:ahLst/>
            <a:cxnLst/>
            <a:rect l="l" t="t" r="r" b="b"/>
            <a:pathLst>
              <a:path w="1600200" h="876300">
                <a:moveTo>
                  <a:pt x="76203" y="0"/>
                </a:moveTo>
                <a:lnTo>
                  <a:pt x="1523997" y="0"/>
                </a:lnTo>
                <a:cubicBezTo>
                  <a:pt x="1566083" y="0"/>
                  <a:pt x="1600200" y="34117"/>
                  <a:pt x="1600200" y="76203"/>
                </a:cubicBezTo>
                <a:lnTo>
                  <a:pt x="1600200" y="800097"/>
                </a:lnTo>
                <a:cubicBezTo>
                  <a:pt x="1600200" y="842183"/>
                  <a:pt x="1566083" y="876300"/>
                  <a:pt x="1523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1303" y="5753100"/>
            <a:ext cx="1438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A6B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24/7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89403" y="61341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88635" y="5600700"/>
            <a:ext cx="1600200" cy="876300"/>
          </a:xfrm>
          <a:custGeom>
            <a:avLst/>
            <a:gdLst/>
            <a:ahLst/>
            <a:cxnLst/>
            <a:rect l="l" t="t" r="r" b="b"/>
            <a:pathLst>
              <a:path w="1600200" h="876300">
                <a:moveTo>
                  <a:pt x="76203" y="0"/>
                </a:moveTo>
                <a:lnTo>
                  <a:pt x="1523997" y="0"/>
                </a:lnTo>
                <a:cubicBezTo>
                  <a:pt x="1566083" y="0"/>
                  <a:pt x="1600200" y="34117"/>
                  <a:pt x="1600200" y="76203"/>
                </a:cubicBezTo>
                <a:lnTo>
                  <a:pt x="1600200" y="800097"/>
                </a:lnTo>
                <a:cubicBezTo>
                  <a:pt x="1600200" y="842183"/>
                  <a:pt x="1566083" y="876300"/>
                  <a:pt x="1523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69598" y="5753100"/>
            <a:ext cx="1438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88C7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07698" y="61341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Control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206930" y="5600700"/>
            <a:ext cx="1600200" cy="876300"/>
          </a:xfrm>
          <a:custGeom>
            <a:avLst/>
            <a:gdLst/>
            <a:ahLst/>
            <a:cxnLst/>
            <a:rect l="l" t="t" r="r" b="b"/>
            <a:pathLst>
              <a:path w="1600200" h="876300">
                <a:moveTo>
                  <a:pt x="76203" y="0"/>
                </a:moveTo>
                <a:lnTo>
                  <a:pt x="1523997" y="0"/>
                </a:lnTo>
                <a:cubicBezTo>
                  <a:pt x="1566083" y="0"/>
                  <a:pt x="1600200" y="34117"/>
                  <a:pt x="1600200" y="76203"/>
                </a:cubicBezTo>
                <a:lnTo>
                  <a:pt x="1600200" y="800097"/>
                </a:lnTo>
                <a:cubicBezTo>
                  <a:pt x="1600200" y="842183"/>
                  <a:pt x="1566083" y="876300"/>
                  <a:pt x="15239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287893" y="5753100"/>
            <a:ext cx="1438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A6B5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25993" y="61341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Sharing</a:t>
            </a:r>
            <a:endParaRPr lang="en-US" sz="1600" dirty="0"/>
          </a:p>
        </p:txBody>
      </p:sp>
      <p:pic>
        <p:nvPicPr>
          <p:cNvPr id="41" name="Image 0" descr="https://kimi-img.moonshot.cn/pub/slides/26-02-08-05:06:42-d63qiog8obddmmkr3u7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5707" y="863608"/>
            <a:ext cx="5241968" cy="4591042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343025" cy="304800"/>
          </a:xfrm>
          <a:custGeom>
            <a:avLst/>
            <a:gdLst/>
            <a:ahLst/>
            <a:cxnLst/>
            <a:rect l="l" t="t" r="r" b="b"/>
            <a:pathLst>
              <a:path w="1343025" h="304800">
                <a:moveTo>
                  <a:pt x="152400" y="0"/>
                </a:moveTo>
                <a:lnTo>
                  <a:pt x="1190625" y="0"/>
                </a:lnTo>
                <a:cubicBezTo>
                  <a:pt x="1274737" y="0"/>
                  <a:pt x="1343025" y="68288"/>
                  <a:pt x="1343025" y="152400"/>
                </a:cubicBezTo>
                <a:lnTo>
                  <a:pt x="1343025" y="152400"/>
                </a:lnTo>
                <a:cubicBezTo>
                  <a:pt x="1343025" y="236512"/>
                  <a:pt x="1274737" y="304800"/>
                  <a:pt x="11906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6B5C">
              <a:alpha val="10196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A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3D3A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Intelligent Health Chatbot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2872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conversations with intelligent triage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47825"/>
            <a:ext cx="5619750" cy="3409950"/>
          </a:xfrm>
          <a:custGeom>
            <a:avLst/>
            <a:gdLst/>
            <a:ahLst/>
            <a:cxnLst/>
            <a:rect l="l" t="t" r="r" b="b"/>
            <a:pathLst>
              <a:path w="5619750" h="3409950">
                <a:moveTo>
                  <a:pt x="114302" y="0"/>
                </a:moveTo>
                <a:lnTo>
                  <a:pt x="5505448" y="0"/>
                </a:lnTo>
                <a:cubicBezTo>
                  <a:pt x="5568575" y="0"/>
                  <a:pt x="5619750" y="51175"/>
                  <a:pt x="5619750" y="114302"/>
                </a:cubicBezTo>
                <a:lnTo>
                  <a:pt x="5619750" y="3295648"/>
                </a:lnTo>
                <a:cubicBezTo>
                  <a:pt x="5619750" y="3358775"/>
                  <a:pt x="5568575" y="3409950"/>
                  <a:pt x="5505448" y="3409950"/>
                </a:cubicBezTo>
                <a:lnTo>
                  <a:pt x="114302" y="3409950"/>
                </a:lnTo>
                <a:cubicBezTo>
                  <a:pt x="51175" y="3409950"/>
                  <a:pt x="0" y="3358775"/>
                  <a:pt x="0" y="32956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3406" y="18764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8383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Health Guidance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219325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CarePilot provides educational guidance grounded in your profile data and current symptoms. Every response considers your medical history, medications, and preferences.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3114675"/>
            <a:ext cx="5219700" cy="1066800"/>
          </a:xfrm>
          <a:custGeom>
            <a:avLst/>
            <a:gdLst/>
            <a:ahLst/>
            <a:cxnLst/>
            <a:rect l="l" t="t" r="r" b="b"/>
            <a:pathLst>
              <a:path w="5219700" h="1066800">
                <a:moveTo>
                  <a:pt x="38100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990598"/>
                </a:lnTo>
                <a:cubicBezTo>
                  <a:pt x="5219700" y="1032683"/>
                  <a:pt x="5185583" y="1066800"/>
                  <a:pt x="514349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1" name="Shape 9"/>
          <p:cNvSpPr/>
          <p:nvPr/>
        </p:nvSpPr>
        <p:spPr>
          <a:xfrm>
            <a:off x="590550" y="311467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96528" y="33051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0613" y="3267075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"I've had headaches for 3 days."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1519" y="36099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9724" y="3571875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"Given your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hypertension history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please check your blood pressure today. If headaches persist, consider scheduling a follow-up."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5210175"/>
            <a:ext cx="5619750" cy="1504950"/>
          </a:xfrm>
          <a:custGeom>
            <a:avLst/>
            <a:gdLst/>
            <a:ahLst/>
            <a:cxnLst/>
            <a:rect l="l" t="t" r="r" b="b"/>
            <a:pathLst>
              <a:path w="5619750" h="1504950">
                <a:moveTo>
                  <a:pt x="114301" y="0"/>
                </a:moveTo>
                <a:lnTo>
                  <a:pt x="5505449" y="0"/>
                </a:lnTo>
                <a:cubicBezTo>
                  <a:pt x="5568576" y="0"/>
                  <a:pt x="5619750" y="51174"/>
                  <a:pt x="5619750" y="114301"/>
                </a:cubicBezTo>
                <a:lnTo>
                  <a:pt x="5619750" y="1390649"/>
                </a:lnTo>
                <a:cubicBezTo>
                  <a:pt x="5619750" y="1453776"/>
                  <a:pt x="5568576" y="1504950"/>
                  <a:pt x="550544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125" y="54387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25" y="540067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Input Support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5781675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can talk to CarePilot instead of typing. Voice is transcribed to text, confirmed by the user, and processed through the same safety and triage systems.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1250" y="1647825"/>
            <a:ext cx="5619750" cy="3733800"/>
          </a:xfrm>
          <a:custGeom>
            <a:avLst/>
            <a:gdLst/>
            <a:ahLst/>
            <a:cxnLst/>
            <a:rect l="l" t="t" r="r" b="b"/>
            <a:pathLst>
              <a:path w="5619750" h="3733800">
                <a:moveTo>
                  <a:pt x="114292" y="0"/>
                </a:moveTo>
                <a:lnTo>
                  <a:pt x="5505458" y="0"/>
                </a:lnTo>
                <a:cubicBezTo>
                  <a:pt x="5568580" y="0"/>
                  <a:pt x="5619750" y="51170"/>
                  <a:pt x="5619750" y="114292"/>
                </a:cubicBezTo>
                <a:lnTo>
                  <a:pt x="5619750" y="3619508"/>
                </a:lnTo>
                <a:cubicBezTo>
                  <a:pt x="5619750" y="3682630"/>
                  <a:pt x="5568580" y="3733800"/>
                  <a:pt x="5505458" y="3733800"/>
                </a:cubicBezTo>
                <a:lnTo>
                  <a:pt x="114292" y="3733800"/>
                </a:lnTo>
                <a:cubicBezTo>
                  <a:pt x="51170" y="3733800"/>
                  <a:pt x="0" y="3682630"/>
                  <a:pt x="0" y="36195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5563" y="1876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2" name="Text 20"/>
          <p:cNvSpPr/>
          <p:nvPr/>
        </p:nvSpPr>
        <p:spPr>
          <a:xfrm>
            <a:off x="6619875" y="18383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Triage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1750" y="225742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inbound message is automatically classified to ensure appropriate response: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1750" y="2905125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96050" y="30765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6" name="Text 24"/>
          <p:cNvSpPr/>
          <p:nvPr/>
        </p:nvSpPr>
        <p:spPr>
          <a:xfrm>
            <a:off x="6724650" y="301942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4650" y="32861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redirect only. Immediate safety guidance provided.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1750" y="3705225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96050" y="38766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0" name="Text 28"/>
          <p:cNvSpPr/>
          <p:nvPr/>
        </p:nvSpPr>
        <p:spPr>
          <a:xfrm>
            <a:off x="6724650" y="3819525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URGENT_24H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24650" y="40862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near-term clinical follow-up recommended.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1750" y="4505325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96050" y="46767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4" name="Text 32"/>
          <p:cNvSpPr/>
          <p:nvPr/>
        </p:nvSpPr>
        <p:spPr>
          <a:xfrm>
            <a:off x="6724650" y="4619625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ROUTINE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4650" y="48863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guidance and optional actions available.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00775" y="5543550"/>
            <a:ext cx="5600700" cy="1162050"/>
          </a:xfrm>
          <a:custGeom>
            <a:avLst/>
            <a:gdLst/>
            <a:ahLst/>
            <a:cxnLst/>
            <a:rect l="l" t="t" r="r" b="b"/>
            <a:pathLst>
              <a:path w="5600700" h="1162050">
                <a:moveTo>
                  <a:pt x="114299" y="0"/>
                </a:moveTo>
                <a:lnTo>
                  <a:pt x="5486401" y="0"/>
                </a:lnTo>
                <a:cubicBezTo>
                  <a:pt x="5549526" y="0"/>
                  <a:pt x="5600700" y="51174"/>
                  <a:pt x="5600700" y="114299"/>
                </a:cubicBezTo>
                <a:lnTo>
                  <a:pt x="5600700" y="1047751"/>
                </a:lnTo>
                <a:cubicBezTo>
                  <a:pt x="5600700" y="1110876"/>
                  <a:pt x="5549526" y="1162050"/>
                  <a:pt x="54864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D88C72">
              <a:alpha val="10196"/>
            </a:srgbClr>
          </a:solidFill>
          <a:ln w="25400">
            <a:solidFill>
              <a:srgbClr val="D88C72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0325" y="57435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38" name="Text 36"/>
          <p:cNvSpPr/>
          <p:nvPr/>
        </p:nvSpPr>
        <p:spPr>
          <a:xfrm>
            <a:off x="6715125" y="5705475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62700" y="6048375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Conversations are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grounded in your clinical memory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—no need to repeat medications, allergies, or conditions every time you chat.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362075" cy="304800"/>
          </a:xfrm>
          <a:custGeom>
            <a:avLst/>
            <a:gdLst/>
            <a:ahLst/>
            <a:cxnLst/>
            <a:rect l="l" t="t" r="r" b="b"/>
            <a:pathLst>
              <a:path w="1362075" h="304800">
                <a:moveTo>
                  <a:pt x="152400" y="0"/>
                </a:moveTo>
                <a:lnTo>
                  <a:pt x="1209675" y="0"/>
                </a:lnTo>
                <a:cubicBezTo>
                  <a:pt x="1293787" y="0"/>
                  <a:pt x="1362075" y="68288"/>
                  <a:pt x="1362075" y="152400"/>
                </a:cubicBezTo>
                <a:lnTo>
                  <a:pt x="1362075" y="152400"/>
                </a:lnTo>
                <a:cubicBezTo>
                  <a:pt x="1362075" y="236512"/>
                  <a:pt x="1293787" y="304800"/>
                  <a:pt x="12096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8C72">
              <a:alpha val="10196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88C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3D3A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AI Agent for Healthcare Actions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2872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healthcare admin with user consent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47825"/>
            <a:ext cx="5619750" cy="3286125"/>
          </a:xfrm>
          <a:custGeom>
            <a:avLst/>
            <a:gdLst/>
            <a:ahLst/>
            <a:cxnLst/>
            <a:rect l="l" t="t" r="r" b="b"/>
            <a:pathLst>
              <a:path w="5619750" h="3286125">
                <a:moveTo>
                  <a:pt x="114291" y="0"/>
                </a:moveTo>
                <a:lnTo>
                  <a:pt x="5505459" y="0"/>
                </a:lnTo>
                <a:cubicBezTo>
                  <a:pt x="5568580" y="0"/>
                  <a:pt x="5619750" y="51170"/>
                  <a:pt x="5619750" y="114291"/>
                </a:cubicBezTo>
                <a:lnTo>
                  <a:pt x="5619750" y="3171834"/>
                </a:lnTo>
                <a:cubicBezTo>
                  <a:pt x="5619750" y="3234955"/>
                  <a:pt x="5568580" y="3286125"/>
                  <a:pt x="5505459" y="3286125"/>
                </a:cubicBezTo>
                <a:lnTo>
                  <a:pt x="114291" y="3286125"/>
                </a:lnTo>
                <a:cubicBezTo>
                  <a:pt x="51170" y="3286125"/>
                  <a:pt x="0" y="3234955"/>
                  <a:pt x="0" y="3171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7219" y="18764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8383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 &amp; Clinic Discovery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219325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and rank nearby labs by distance, availability, and transparent pricing.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581275"/>
            <a:ext cx="5238750" cy="952500"/>
          </a:xfrm>
          <a:custGeom>
            <a:avLst/>
            <a:gdLst/>
            <a:ahLst/>
            <a:cxnLst/>
            <a:rect l="l" t="t" r="r" b="b"/>
            <a:pathLst>
              <a:path w="5238750" h="9525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876300"/>
                </a:lnTo>
                <a:cubicBezTo>
                  <a:pt x="5238750" y="918356"/>
                  <a:pt x="5204606" y="952500"/>
                  <a:pt x="51625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95575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Quest Diagnostics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2972" y="269557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A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2.1 mi • Tue 9:00 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962275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Labcorp Midtown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07768" y="2962275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A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3.0 mi • Tue 10:30 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228975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City Health Lab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46538" y="3228975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A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1.8 mi • Wed 8:45 AM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5086350"/>
            <a:ext cx="5619750" cy="1390650"/>
          </a:xfrm>
          <a:custGeom>
            <a:avLst/>
            <a:gdLst/>
            <a:ahLst/>
            <a:cxnLst/>
            <a:rect l="l" t="t" r="r" b="b"/>
            <a:pathLst>
              <a:path w="5619750" h="1390650">
                <a:moveTo>
                  <a:pt x="114298" y="0"/>
                </a:moveTo>
                <a:lnTo>
                  <a:pt x="5505452" y="0"/>
                </a:lnTo>
                <a:cubicBezTo>
                  <a:pt x="5568577" y="0"/>
                  <a:pt x="5619750" y="51173"/>
                  <a:pt x="5619750" y="114298"/>
                </a:cubicBezTo>
                <a:lnTo>
                  <a:pt x="5619750" y="1276352"/>
                </a:lnTo>
                <a:cubicBezTo>
                  <a:pt x="5619750" y="1339477"/>
                  <a:pt x="5568577" y="1390650"/>
                  <a:pt x="5505452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219" y="5314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83344" y="71438"/>
                </a:moveTo>
                <a:cubicBezTo>
                  <a:pt x="78395" y="71438"/>
                  <a:pt x="74414" y="75419"/>
                  <a:pt x="74414" y="80367"/>
                </a:cubicBezTo>
                <a:lnTo>
                  <a:pt x="74414" y="98227"/>
                </a:lnTo>
                <a:lnTo>
                  <a:pt x="56555" y="98227"/>
                </a:lnTo>
                <a:cubicBezTo>
                  <a:pt x="51606" y="98227"/>
                  <a:pt x="47625" y="102208"/>
                  <a:pt x="47625" y="107156"/>
                </a:cubicBezTo>
                <a:cubicBezTo>
                  <a:pt x="47625" y="112105"/>
                  <a:pt x="51606" y="116086"/>
                  <a:pt x="56555" y="116086"/>
                </a:cubicBezTo>
                <a:lnTo>
                  <a:pt x="74414" y="116086"/>
                </a:lnTo>
                <a:lnTo>
                  <a:pt x="74414" y="133945"/>
                </a:lnTo>
                <a:cubicBezTo>
                  <a:pt x="74414" y="138894"/>
                  <a:pt x="78395" y="142875"/>
                  <a:pt x="83344" y="142875"/>
                </a:cubicBezTo>
                <a:cubicBezTo>
                  <a:pt x="88292" y="142875"/>
                  <a:pt x="92273" y="138894"/>
                  <a:pt x="92273" y="133945"/>
                </a:cubicBezTo>
                <a:lnTo>
                  <a:pt x="92273" y="116086"/>
                </a:lnTo>
                <a:lnTo>
                  <a:pt x="110133" y="116086"/>
                </a:lnTo>
                <a:cubicBezTo>
                  <a:pt x="115081" y="116086"/>
                  <a:pt x="119063" y="112105"/>
                  <a:pt x="119063" y="107156"/>
                </a:cubicBezTo>
                <a:cubicBezTo>
                  <a:pt x="119063" y="102208"/>
                  <a:pt x="115081" y="98227"/>
                  <a:pt x="110133" y="98227"/>
                </a:cubicBezTo>
                <a:lnTo>
                  <a:pt x="92273" y="98227"/>
                </a:lnTo>
                <a:lnTo>
                  <a:pt x="92273" y="80367"/>
                </a:lnTo>
                <a:cubicBezTo>
                  <a:pt x="92273" y="75419"/>
                  <a:pt x="88292" y="71438"/>
                  <a:pt x="83344" y="71438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9" name="Text 17"/>
          <p:cNvSpPr/>
          <p:nvPr/>
        </p:nvSpPr>
        <p:spPr>
          <a:xfrm>
            <a:off x="809625" y="527685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Appointment Booking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5657850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lifecycle tracking from planning to completion: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6019800"/>
            <a:ext cx="619125" cy="266700"/>
          </a:xfrm>
          <a:custGeom>
            <a:avLst/>
            <a:gdLst/>
            <a:ahLst/>
            <a:cxnLst/>
            <a:rect l="l" t="t" r="r" b="b"/>
            <a:pathLst>
              <a:path w="619125" h="266700">
                <a:moveTo>
                  <a:pt x="38101" y="0"/>
                </a:moveTo>
                <a:lnTo>
                  <a:pt x="581024" y="0"/>
                </a:lnTo>
                <a:cubicBezTo>
                  <a:pt x="602067" y="0"/>
                  <a:pt x="619125" y="17058"/>
                  <a:pt x="619125" y="38101"/>
                </a:cubicBezTo>
                <a:lnTo>
                  <a:pt x="619125" y="228599"/>
                </a:lnTo>
                <a:cubicBezTo>
                  <a:pt x="619125" y="249628"/>
                  <a:pt x="602053" y="266700"/>
                  <a:pt x="5810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A6B5C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" y="6019800"/>
            <a:ext cx="6858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90042" y="6086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5C1B9"/>
          </a:solidFill>
          <a:ln/>
        </p:spPr>
      </p:sp>
      <p:sp>
        <p:nvSpPr>
          <p:cNvPr id="24" name="Shape 22"/>
          <p:cNvSpPr/>
          <p:nvPr/>
        </p:nvSpPr>
        <p:spPr>
          <a:xfrm>
            <a:off x="1513880" y="6019800"/>
            <a:ext cx="1466850" cy="266700"/>
          </a:xfrm>
          <a:custGeom>
            <a:avLst/>
            <a:gdLst/>
            <a:ahLst/>
            <a:cxnLst/>
            <a:rect l="l" t="t" r="r" b="b"/>
            <a:pathLst>
              <a:path w="1466850" h="266700">
                <a:moveTo>
                  <a:pt x="38101" y="0"/>
                </a:moveTo>
                <a:lnTo>
                  <a:pt x="1428749" y="0"/>
                </a:lnTo>
                <a:cubicBezTo>
                  <a:pt x="1449792" y="0"/>
                  <a:pt x="1466850" y="17058"/>
                  <a:pt x="1466850" y="38101"/>
                </a:cubicBezTo>
                <a:lnTo>
                  <a:pt x="1466850" y="228599"/>
                </a:lnTo>
                <a:cubicBezTo>
                  <a:pt x="1466850" y="249642"/>
                  <a:pt x="1449792" y="266700"/>
                  <a:pt x="14287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88C72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13880" y="6019800"/>
            <a:ext cx="15335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awaiting_confirmation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072259" y="6086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5C1B9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6096" y="6019800"/>
            <a:ext cx="733425" cy="266700"/>
          </a:xfrm>
          <a:custGeom>
            <a:avLst/>
            <a:gdLst/>
            <a:ahLst/>
            <a:cxnLst/>
            <a:rect l="l" t="t" r="r" b="b"/>
            <a:pathLst>
              <a:path w="733425" h="266700">
                <a:moveTo>
                  <a:pt x="38101" y="0"/>
                </a:moveTo>
                <a:lnTo>
                  <a:pt x="695324" y="0"/>
                </a:lnTo>
                <a:cubicBezTo>
                  <a:pt x="716367" y="0"/>
                  <a:pt x="733425" y="17058"/>
                  <a:pt x="733425" y="38101"/>
                </a:cubicBezTo>
                <a:lnTo>
                  <a:pt x="733425" y="228599"/>
                </a:lnTo>
                <a:cubicBezTo>
                  <a:pt x="733425" y="249628"/>
                  <a:pt x="716353" y="266700"/>
                  <a:pt x="6953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A6B5C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96096" y="6019800"/>
            <a:ext cx="8001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123358" y="6086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5C1B9"/>
          </a:solidFill>
          <a:ln/>
        </p:spPr>
      </p:sp>
      <p:sp>
        <p:nvSpPr>
          <p:cNvPr id="30" name="Shape 28"/>
          <p:cNvSpPr/>
          <p:nvPr/>
        </p:nvSpPr>
        <p:spPr>
          <a:xfrm>
            <a:off x="4347195" y="601980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38101" y="0"/>
                </a:moveTo>
                <a:lnTo>
                  <a:pt x="761999" y="0"/>
                </a:lnTo>
                <a:cubicBezTo>
                  <a:pt x="783042" y="0"/>
                  <a:pt x="800100" y="17058"/>
                  <a:pt x="800100" y="38101"/>
                </a:cubicBezTo>
                <a:lnTo>
                  <a:pt x="800100" y="228599"/>
                </a:lnTo>
                <a:cubicBezTo>
                  <a:pt x="800100" y="249628"/>
                  <a:pt x="783028" y="266700"/>
                  <a:pt x="7619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4347195" y="6019800"/>
            <a:ext cx="8667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succeeded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1647825"/>
            <a:ext cx="5619750" cy="3495675"/>
          </a:xfrm>
          <a:custGeom>
            <a:avLst/>
            <a:gdLst/>
            <a:ahLst/>
            <a:cxnLst/>
            <a:rect l="l" t="t" r="r" b="b"/>
            <a:pathLst>
              <a:path w="5619750" h="3495675">
                <a:moveTo>
                  <a:pt x="114309" y="0"/>
                </a:moveTo>
                <a:lnTo>
                  <a:pt x="5505441" y="0"/>
                </a:lnTo>
                <a:cubicBezTo>
                  <a:pt x="5568572" y="0"/>
                  <a:pt x="5619750" y="51178"/>
                  <a:pt x="5619750" y="114309"/>
                </a:cubicBezTo>
                <a:lnTo>
                  <a:pt x="5619750" y="3381366"/>
                </a:lnTo>
                <a:cubicBezTo>
                  <a:pt x="5619750" y="3444497"/>
                  <a:pt x="5568572" y="3495675"/>
                  <a:pt x="5505441" y="3495675"/>
                </a:cubicBezTo>
                <a:lnTo>
                  <a:pt x="114309" y="3495675"/>
                </a:lnTo>
                <a:cubicBezTo>
                  <a:pt x="51178" y="3495675"/>
                  <a:pt x="0" y="3444497"/>
                  <a:pt x="0" y="338136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33" name="Shape 31"/>
          <p:cNvSpPr/>
          <p:nvPr/>
        </p:nvSpPr>
        <p:spPr>
          <a:xfrm>
            <a:off x="6429375" y="18764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11906"/>
                </a:moveTo>
                <a:cubicBezTo>
                  <a:pt x="0" y="5321"/>
                  <a:pt x="5321" y="0"/>
                  <a:pt x="11906" y="0"/>
                </a:cubicBezTo>
                <a:lnTo>
                  <a:pt x="130969" y="0"/>
                </a:lnTo>
                <a:cubicBezTo>
                  <a:pt x="137554" y="0"/>
                  <a:pt x="142875" y="5321"/>
                  <a:pt x="142875" y="11906"/>
                </a:cubicBezTo>
                <a:lnTo>
                  <a:pt x="142875" y="23812"/>
                </a:lnTo>
                <a:cubicBezTo>
                  <a:pt x="142875" y="30398"/>
                  <a:pt x="137554" y="35719"/>
                  <a:pt x="130969" y="35719"/>
                </a:cubicBez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lnTo>
                  <a:pt x="0" y="11906"/>
                </a:lnTo>
                <a:close/>
                <a:moveTo>
                  <a:pt x="11906" y="53578"/>
                </a:moveTo>
                <a:lnTo>
                  <a:pt x="130969" y="53578"/>
                </a:lnTo>
                <a:lnTo>
                  <a:pt x="130969" y="166688"/>
                </a:lnTo>
                <a:cubicBezTo>
                  <a:pt x="130969" y="179822"/>
                  <a:pt x="120290" y="190500"/>
                  <a:pt x="107156" y="190500"/>
                </a:cubicBezTo>
                <a:lnTo>
                  <a:pt x="35719" y="190500"/>
                </a:lnTo>
                <a:cubicBezTo>
                  <a:pt x="22585" y="190500"/>
                  <a:pt x="11906" y="179822"/>
                  <a:pt x="11906" y="166688"/>
                </a:cubicBezTo>
                <a:lnTo>
                  <a:pt x="11906" y="53578"/>
                </a:lnTo>
                <a:close/>
                <a:moveTo>
                  <a:pt x="59531" y="92273"/>
                </a:moveTo>
                <a:lnTo>
                  <a:pt x="59531" y="107156"/>
                </a:lnTo>
                <a:lnTo>
                  <a:pt x="44648" y="107156"/>
                </a:lnTo>
                <a:cubicBezTo>
                  <a:pt x="41374" y="107156"/>
                  <a:pt x="38695" y="109835"/>
                  <a:pt x="38695" y="113109"/>
                </a:cubicBezTo>
                <a:lnTo>
                  <a:pt x="38695" y="125016"/>
                </a:lnTo>
                <a:cubicBezTo>
                  <a:pt x="38695" y="128290"/>
                  <a:pt x="41374" y="130969"/>
                  <a:pt x="44648" y="130969"/>
                </a:cubicBezTo>
                <a:lnTo>
                  <a:pt x="59531" y="130969"/>
                </a:lnTo>
                <a:lnTo>
                  <a:pt x="59531" y="145852"/>
                </a:lnTo>
                <a:cubicBezTo>
                  <a:pt x="59531" y="149126"/>
                  <a:pt x="62210" y="151805"/>
                  <a:pt x="65484" y="151805"/>
                </a:cubicBezTo>
                <a:lnTo>
                  <a:pt x="77391" y="151805"/>
                </a:lnTo>
                <a:cubicBezTo>
                  <a:pt x="80665" y="151805"/>
                  <a:pt x="83344" y="149126"/>
                  <a:pt x="83344" y="145852"/>
                </a:cubicBezTo>
                <a:lnTo>
                  <a:pt x="83344" y="130969"/>
                </a:lnTo>
                <a:lnTo>
                  <a:pt x="98227" y="130969"/>
                </a:lnTo>
                <a:cubicBezTo>
                  <a:pt x="101501" y="130969"/>
                  <a:pt x="104180" y="128290"/>
                  <a:pt x="104180" y="125016"/>
                </a:cubicBezTo>
                <a:lnTo>
                  <a:pt x="104180" y="113109"/>
                </a:lnTo>
                <a:cubicBezTo>
                  <a:pt x="104180" y="109835"/>
                  <a:pt x="101501" y="107156"/>
                  <a:pt x="98227" y="107156"/>
                </a:cubicBezTo>
                <a:lnTo>
                  <a:pt x="83344" y="107156"/>
                </a:lnTo>
                <a:lnTo>
                  <a:pt x="83344" y="92273"/>
                </a:lnTo>
                <a:cubicBezTo>
                  <a:pt x="83344" y="88999"/>
                  <a:pt x="80665" y="86320"/>
                  <a:pt x="77391" y="86320"/>
                </a:cubicBezTo>
                <a:lnTo>
                  <a:pt x="65484" y="86320"/>
                </a:lnTo>
                <a:cubicBezTo>
                  <a:pt x="62210" y="86320"/>
                  <a:pt x="59531" y="88999"/>
                  <a:pt x="59531" y="92273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34" name="Text 32"/>
          <p:cNvSpPr/>
          <p:nvPr/>
        </p:nvSpPr>
        <p:spPr>
          <a:xfrm>
            <a:off x="6619875" y="18383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Medication Refill Workflow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1750" y="2219325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run-out predictions using fill date, quantity, and dosage frequency.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1750" y="2581275"/>
            <a:ext cx="5238750" cy="1981200"/>
          </a:xfrm>
          <a:custGeom>
            <a:avLst/>
            <a:gdLst/>
            <a:ahLst/>
            <a:cxnLst/>
            <a:rect l="l" t="t" r="r" b="b"/>
            <a:pathLst>
              <a:path w="5238750" h="1981200">
                <a:moveTo>
                  <a:pt x="76197" y="0"/>
                </a:moveTo>
                <a:lnTo>
                  <a:pt x="5162553" y="0"/>
                </a:lnTo>
                <a:cubicBezTo>
                  <a:pt x="5204635" y="0"/>
                  <a:pt x="5238750" y="34115"/>
                  <a:pt x="5238750" y="76197"/>
                </a:cubicBezTo>
                <a:lnTo>
                  <a:pt x="5238750" y="1905003"/>
                </a:lnTo>
                <a:cubicBezTo>
                  <a:pt x="5238750" y="1947085"/>
                  <a:pt x="5204635" y="1981200"/>
                  <a:pt x="5162553" y="1981200"/>
                </a:cubicBezTo>
                <a:lnTo>
                  <a:pt x="76197" y="1981200"/>
                </a:lnTo>
                <a:cubicBezTo>
                  <a:pt x="34115" y="1981200"/>
                  <a:pt x="0" y="1947085"/>
                  <a:pt x="0" y="19050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17481" y="2771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38" name="Text 36"/>
          <p:cNvSpPr/>
          <p:nvPr/>
        </p:nvSpPr>
        <p:spPr>
          <a:xfrm>
            <a:off x="6832029" y="2733675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CarePilot: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32029" y="2962275"/>
            <a:ext cx="4705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"Based on your last fill, you may have 4 days of Metformin left. About how many pills remain?"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68678" y="3495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62763" y="3457575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62763" y="368617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have about 5 pills left."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36531" y="40290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44" name="Text 42"/>
          <p:cNvSpPr/>
          <p:nvPr/>
        </p:nvSpPr>
        <p:spPr>
          <a:xfrm>
            <a:off x="6862763" y="3990975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CarePilot: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62763" y="4219575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"I'll request a refill now. Should I proceed?"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00775" y="5305425"/>
            <a:ext cx="5600700" cy="1162050"/>
          </a:xfrm>
          <a:custGeom>
            <a:avLst/>
            <a:gdLst/>
            <a:ahLst/>
            <a:cxnLst/>
            <a:rect l="l" t="t" r="r" b="b"/>
            <a:pathLst>
              <a:path w="5600700" h="1162050">
                <a:moveTo>
                  <a:pt x="114299" y="0"/>
                </a:moveTo>
                <a:lnTo>
                  <a:pt x="5486401" y="0"/>
                </a:lnTo>
                <a:cubicBezTo>
                  <a:pt x="5549526" y="0"/>
                  <a:pt x="5600700" y="51174"/>
                  <a:pt x="5600700" y="114299"/>
                </a:cubicBezTo>
                <a:lnTo>
                  <a:pt x="5600700" y="1047751"/>
                </a:lnTo>
                <a:cubicBezTo>
                  <a:pt x="5600700" y="1110876"/>
                  <a:pt x="5549526" y="1162050"/>
                  <a:pt x="548640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D88C72">
              <a:alpha val="10196"/>
            </a:srgbClr>
          </a:solidFill>
          <a:ln w="25400">
            <a:solidFill>
              <a:srgbClr val="D88C72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91275" y="548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48" name="Text 46"/>
          <p:cNvSpPr/>
          <p:nvPr/>
        </p:nvSpPr>
        <p:spPr>
          <a:xfrm>
            <a:off x="6762750" y="54673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Consent-First Design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62700" y="5810250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action requires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user approval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CarePilot prepares actions but never executes without confirmation. Full audit trail maintained.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371600" cy="304800"/>
          </a:xfrm>
          <a:custGeom>
            <a:avLst/>
            <a:gdLst/>
            <a:ahLst/>
            <a:cxnLst/>
            <a:rect l="l" t="t" r="r" b="b"/>
            <a:pathLst>
              <a:path w="1371600" h="304800">
                <a:moveTo>
                  <a:pt x="152400" y="0"/>
                </a:moveTo>
                <a:lnTo>
                  <a:pt x="1219200" y="0"/>
                </a:lnTo>
                <a:cubicBezTo>
                  <a:pt x="1303312" y="0"/>
                  <a:pt x="1371600" y="68288"/>
                  <a:pt x="1371600" y="152400"/>
                </a:cubicBezTo>
                <a:lnTo>
                  <a:pt x="1371600" y="152400"/>
                </a:lnTo>
                <a:cubicBezTo>
                  <a:pt x="1371600" y="236512"/>
                  <a:pt x="1303312" y="304800"/>
                  <a:pt x="12192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6B5C">
              <a:alpha val="10196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A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3D3A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Proactive Care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2872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Anticipating needs before they become problems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47825"/>
            <a:ext cx="10138359" cy="3636124"/>
          </a:xfrm>
          <a:custGeom>
            <a:avLst/>
            <a:gdLst/>
            <a:ahLst/>
            <a:cxnLst/>
            <a:rect l="l" t="t" r="r" b="b"/>
            <a:pathLst>
              <a:path w="10138359" h="3636124">
                <a:moveTo>
                  <a:pt x="187451" y="0"/>
                </a:moveTo>
                <a:lnTo>
                  <a:pt x="9950908" y="0"/>
                </a:lnTo>
                <a:cubicBezTo>
                  <a:pt x="10054365" y="0"/>
                  <a:pt x="10138359" y="62663"/>
                  <a:pt x="10138359" y="139845"/>
                </a:cubicBezTo>
                <a:lnTo>
                  <a:pt x="10138359" y="3496278"/>
                </a:lnTo>
                <a:cubicBezTo>
                  <a:pt x="10138359" y="3573461"/>
                  <a:pt x="10054365" y="3636124"/>
                  <a:pt x="9950908" y="3636124"/>
                </a:cubicBezTo>
                <a:lnTo>
                  <a:pt x="187451" y="3636124"/>
                </a:lnTo>
                <a:cubicBezTo>
                  <a:pt x="83994" y="3636124"/>
                  <a:pt x="0" y="3573461"/>
                  <a:pt x="0" y="3496278"/>
                </a:cubicBezTo>
                <a:lnTo>
                  <a:pt x="0" y="139845"/>
                </a:lnTo>
                <a:cubicBezTo>
                  <a:pt x="0" y="62663"/>
                  <a:pt x="83994" y="0"/>
                  <a:pt x="1874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7219" y="18764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8" name="Text 6"/>
          <p:cNvSpPr/>
          <p:nvPr/>
        </p:nvSpPr>
        <p:spPr>
          <a:xfrm>
            <a:off x="885825" y="1838325"/>
            <a:ext cx="565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Proactive Outreach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7219" y="2257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A6B5C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0569" y="2390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41672"/>
                </a:moveTo>
                <a:cubicBezTo>
                  <a:pt x="23812" y="31812"/>
                  <a:pt x="31812" y="23812"/>
                  <a:pt x="41672" y="23812"/>
                </a:cubicBezTo>
                <a:cubicBezTo>
                  <a:pt x="51532" y="23812"/>
                  <a:pt x="59531" y="31812"/>
                  <a:pt x="59531" y="41672"/>
                </a:cubicBezTo>
                <a:lnTo>
                  <a:pt x="59531" y="83344"/>
                </a:lnTo>
                <a:lnTo>
                  <a:pt x="23812" y="83344"/>
                </a:lnTo>
                <a:lnTo>
                  <a:pt x="23812" y="41672"/>
                </a:lnTo>
                <a:close/>
                <a:moveTo>
                  <a:pt x="65484" y="136922"/>
                </a:moveTo>
                <a:cubicBezTo>
                  <a:pt x="65484" y="118802"/>
                  <a:pt x="72219" y="102245"/>
                  <a:pt x="83344" y="89669"/>
                </a:cubicBezTo>
                <a:lnTo>
                  <a:pt x="83344" y="41672"/>
                </a:lnTo>
                <a:cubicBezTo>
                  <a:pt x="83344" y="18641"/>
                  <a:pt x="64703" y="0"/>
                  <a:pt x="41672" y="0"/>
                </a:cubicBezTo>
                <a:cubicBezTo>
                  <a:pt x="18641" y="0"/>
                  <a:pt x="0" y="18641"/>
                  <a:pt x="0" y="41672"/>
                </a:cubicBezTo>
                <a:lnTo>
                  <a:pt x="0" y="148828"/>
                </a:lnTo>
                <a:cubicBezTo>
                  <a:pt x="0" y="171859"/>
                  <a:pt x="18641" y="190500"/>
                  <a:pt x="41672" y="190500"/>
                </a:cubicBezTo>
                <a:cubicBezTo>
                  <a:pt x="55550" y="190500"/>
                  <a:pt x="67828" y="183728"/>
                  <a:pt x="75419" y="173273"/>
                </a:cubicBezTo>
                <a:cubicBezTo>
                  <a:pt x="69093" y="162632"/>
                  <a:pt x="65484" y="150205"/>
                  <a:pt x="65484" y="136922"/>
                </a:cubicBezTo>
                <a:close/>
                <a:moveTo>
                  <a:pt x="89557" y="161999"/>
                </a:moveTo>
                <a:cubicBezTo>
                  <a:pt x="91269" y="165236"/>
                  <a:pt x="95622" y="165608"/>
                  <a:pt x="98227" y="163004"/>
                </a:cubicBezTo>
                <a:lnTo>
                  <a:pt x="163004" y="98227"/>
                </a:lnTo>
                <a:cubicBezTo>
                  <a:pt x="165608" y="95622"/>
                  <a:pt x="165236" y="91269"/>
                  <a:pt x="161999" y="89557"/>
                </a:cubicBezTo>
                <a:cubicBezTo>
                  <a:pt x="154521" y="85576"/>
                  <a:pt x="146000" y="83344"/>
                  <a:pt x="136922" y="83344"/>
                </a:cubicBezTo>
                <a:cubicBezTo>
                  <a:pt x="107342" y="83344"/>
                  <a:pt x="83344" y="107342"/>
                  <a:pt x="83344" y="136922"/>
                </a:cubicBezTo>
                <a:cubicBezTo>
                  <a:pt x="83344" y="145963"/>
                  <a:pt x="85576" y="154521"/>
                  <a:pt x="89557" y="161999"/>
                </a:cubicBezTo>
                <a:close/>
                <a:moveTo>
                  <a:pt x="110840" y="175617"/>
                </a:moveTo>
                <a:cubicBezTo>
                  <a:pt x="108235" y="178222"/>
                  <a:pt x="108607" y="182575"/>
                  <a:pt x="111844" y="184286"/>
                </a:cubicBezTo>
                <a:cubicBezTo>
                  <a:pt x="119323" y="188268"/>
                  <a:pt x="127843" y="190500"/>
                  <a:pt x="136922" y="190500"/>
                </a:cubicBezTo>
                <a:cubicBezTo>
                  <a:pt x="166501" y="190500"/>
                  <a:pt x="190500" y="166501"/>
                  <a:pt x="190500" y="136922"/>
                </a:cubicBezTo>
                <a:cubicBezTo>
                  <a:pt x="190500" y="127881"/>
                  <a:pt x="188268" y="119323"/>
                  <a:pt x="184286" y="111844"/>
                </a:cubicBezTo>
                <a:cubicBezTo>
                  <a:pt x="182575" y="108607"/>
                  <a:pt x="178222" y="108235"/>
                  <a:pt x="175617" y="110840"/>
                </a:cubicBezTo>
                <a:lnTo>
                  <a:pt x="110840" y="175617"/>
                </a:ln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11" name="Text 9"/>
          <p:cNvSpPr/>
          <p:nvPr/>
        </p:nvSpPr>
        <p:spPr>
          <a:xfrm>
            <a:off x="1216819" y="2257425"/>
            <a:ext cx="410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Refill Reminders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6819" y="2524125"/>
            <a:ext cx="72708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may run out of Metformin in 5 days. Want me to request a refill?"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7219" y="300868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8C72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2475" y="314203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5" name="Text 13"/>
          <p:cNvSpPr/>
          <p:nvPr/>
        </p:nvSpPr>
        <p:spPr>
          <a:xfrm>
            <a:off x="1216819" y="3008687"/>
            <a:ext cx="436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Appointment Follow-ups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6819" y="3275387"/>
            <a:ext cx="70492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planned to schedule bloodwork 3 days ago. Want help doing it now?"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7219" y="38009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5C1B9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40569" y="39343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C5C1B9"/>
          </a:solidFill>
          <a:ln/>
        </p:spPr>
      </p:sp>
      <p:sp>
        <p:nvSpPr>
          <p:cNvPr id="19" name="Text 17"/>
          <p:cNvSpPr/>
          <p:nvPr/>
        </p:nvSpPr>
        <p:spPr>
          <a:xfrm>
            <a:off x="1216819" y="3800973"/>
            <a:ext cx="439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Check-ins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6819" y="4067673"/>
            <a:ext cx="6970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tracked metrics from Apple Health and user-reported symptoms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7219" y="45092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A6B5C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2475" y="464259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41672"/>
                </a:moveTo>
                <a:cubicBezTo>
                  <a:pt x="80070" y="41672"/>
                  <a:pt x="77391" y="38993"/>
                  <a:pt x="77391" y="35719"/>
                </a:cubicBezTo>
                <a:lnTo>
                  <a:pt x="77391" y="29766"/>
                </a:lnTo>
                <a:cubicBezTo>
                  <a:pt x="77391" y="13320"/>
                  <a:pt x="90711" y="0"/>
                  <a:pt x="107156" y="0"/>
                </a:cubicBezTo>
                <a:lnTo>
                  <a:pt x="113109" y="0"/>
                </a:lnTo>
                <a:cubicBezTo>
                  <a:pt x="116384" y="0"/>
                  <a:pt x="119063" y="2679"/>
                  <a:pt x="119063" y="5953"/>
                </a:cubicBezTo>
                <a:lnTo>
                  <a:pt x="119063" y="11906"/>
                </a:lnTo>
                <a:cubicBezTo>
                  <a:pt x="119063" y="28352"/>
                  <a:pt x="105742" y="41672"/>
                  <a:pt x="89297" y="41672"/>
                </a:cubicBezTo>
                <a:lnTo>
                  <a:pt x="83344" y="41672"/>
                </a:lnTo>
                <a:close/>
                <a:moveTo>
                  <a:pt x="0" y="107156"/>
                </a:moveTo>
                <a:cubicBezTo>
                  <a:pt x="0" y="78767"/>
                  <a:pt x="13283" y="47625"/>
                  <a:pt x="41672" y="47625"/>
                </a:cubicBezTo>
                <a:cubicBezTo>
                  <a:pt x="51829" y="47625"/>
                  <a:pt x="63884" y="51457"/>
                  <a:pt x="72442" y="54806"/>
                </a:cubicBezTo>
                <a:cubicBezTo>
                  <a:pt x="79437" y="57522"/>
                  <a:pt x="87288" y="57522"/>
                  <a:pt x="94283" y="54806"/>
                </a:cubicBezTo>
                <a:cubicBezTo>
                  <a:pt x="102803" y="51495"/>
                  <a:pt x="114895" y="47625"/>
                  <a:pt x="125053" y="47625"/>
                </a:cubicBezTo>
                <a:cubicBezTo>
                  <a:pt x="153442" y="47625"/>
                  <a:pt x="166725" y="78767"/>
                  <a:pt x="166725" y="107156"/>
                </a:cubicBezTo>
                <a:cubicBezTo>
                  <a:pt x="166725" y="154781"/>
                  <a:pt x="136959" y="190500"/>
                  <a:pt x="107193" y="190500"/>
                </a:cubicBezTo>
                <a:cubicBezTo>
                  <a:pt x="101054" y="190500"/>
                  <a:pt x="93018" y="188044"/>
                  <a:pt x="88032" y="186296"/>
                </a:cubicBezTo>
                <a:cubicBezTo>
                  <a:pt x="85018" y="185254"/>
                  <a:pt x="81744" y="185254"/>
                  <a:pt x="78730" y="186296"/>
                </a:cubicBezTo>
                <a:cubicBezTo>
                  <a:pt x="73744" y="188044"/>
                  <a:pt x="65708" y="190500"/>
                  <a:pt x="59568" y="190500"/>
                </a:cubicBezTo>
                <a:cubicBezTo>
                  <a:pt x="29803" y="190500"/>
                  <a:pt x="37" y="154781"/>
                  <a:pt x="37" y="107156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23" name="Text 21"/>
          <p:cNvSpPr/>
          <p:nvPr/>
        </p:nvSpPr>
        <p:spPr>
          <a:xfrm>
            <a:off x="1216819" y="4509246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Trend-based Alerts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6819" y="4775946"/>
            <a:ext cx="67623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"Your activity level dropped this week. Everything okay?"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406" y="380406"/>
            <a:ext cx="1369460" cy="304324"/>
          </a:xfrm>
          <a:custGeom>
            <a:avLst/>
            <a:gdLst/>
            <a:ahLst/>
            <a:cxnLst/>
            <a:rect l="l" t="t" r="r" b="b"/>
            <a:pathLst>
              <a:path w="1369460" h="304324">
                <a:moveTo>
                  <a:pt x="152162" y="0"/>
                </a:moveTo>
                <a:lnTo>
                  <a:pt x="1217298" y="0"/>
                </a:lnTo>
                <a:cubicBezTo>
                  <a:pt x="1301335" y="0"/>
                  <a:pt x="1369460" y="68125"/>
                  <a:pt x="1369460" y="152162"/>
                </a:cubicBezTo>
                <a:lnTo>
                  <a:pt x="1369460" y="152162"/>
                </a:lnTo>
                <a:cubicBezTo>
                  <a:pt x="1369460" y="236199"/>
                  <a:pt x="1301335" y="304324"/>
                  <a:pt x="1217298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D88C72">
              <a:alpha val="10196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32568" y="437466"/>
            <a:ext cx="1131707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D88C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0406" y="760811"/>
            <a:ext cx="11602371" cy="42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96" b="1" dirty="0">
                <a:solidFill>
                  <a:srgbClr val="3D3A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Proprietary Persistent Clinical Memory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0406" y="1226808"/>
            <a:ext cx="11516780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repeat yourself—CarePilot remembers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406" y="1645254"/>
            <a:ext cx="5620493" cy="4545847"/>
          </a:xfrm>
          <a:custGeom>
            <a:avLst/>
            <a:gdLst/>
            <a:ahLst/>
            <a:cxnLst/>
            <a:rect l="l" t="t" r="r" b="b"/>
            <a:pathLst>
              <a:path w="5620493" h="4545847">
                <a:moveTo>
                  <a:pt x="114133" y="0"/>
                </a:moveTo>
                <a:lnTo>
                  <a:pt x="5506360" y="0"/>
                </a:lnTo>
                <a:cubicBezTo>
                  <a:pt x="5569394" y="0"/>
                  <a:pt x="5620493" y="44572"/>
                  <a:pt x="5620493" y="99554"/>
                </a:cubicBezTo>
                <a:lnTo>
                  <a:pt x="5620493" y="4446293"/>
                </a:lnTo>
                <a:cubicBezTo>
                  <a:pt x="5620493" y="4501275"/>
                  <a:pt x="5569394" y="4545847"/>
                  <a:pt x="5506360" y="4545847"/>
                </a:cubicBezTo>
                <a:lnTo>
                  <a:pt x="114133" y="4545847"/>
                </a:lnTo>
                <a:cubicBezTo>
                  <a:pt x="51099" y="4545847"/>
                  <a:pt x="0" y="4501275"/>
                  <a:pt x="0" y="4446293"/>
                </a:cubicBezTo>
                <a:lnTo>
                  <a:pt x="0" y="99554"/>
                </a:lnTo>
                <a:cubicBezTo>
                  <a:pt x="0" y="44609"/>
                  <a:pt x="51141" y="0"/>
                  <a:pt x="114133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7" name="Shape 5"/>
          <p:cNvSpPr/>
          <p:nvPr/>
        </p:nvSpPr>
        <p:spPr>
          <a:xfrm>
            <a:off x="606271" y="1873498"/>
            <a:ext cx="166427" cy="190203"/>
          </a:xfrm>
          <a:custGeom>
            <a:avLst/>
            <a:gdLst/>
            <a:ahLst/>
            <a:cxnLst/>
            <a:rect l="l" t="t" r="r" b="b"/>
            <a:pathLst>
              <a:path w="166427" h="190203">
                <a:moveTo>
                  <a:pt x="166427" y="76453"/>
                </a:moveTo>
                <a:cubicBezTo>
                  <a:pt x="160929" y="80093"/>
                  <a:pt x="154614" y="83028"/>
                  <a:pt x="148039" y="85368"/>
                </a:cubicBezTo>
                <a:cubicBezTo>
                  <a:pt x="130579" y="91609"/>
                  <a:pt x="107658" y="95101"/>
                  <a:pt x="83214" y="95101"/>
                </a:cubicBezTo>
                <a:cubicBezTo>
                  <a:pt x="58770" y="95101"/>
                  <a:pt x="35812" y="91572"/>
                  <a:pt x="18389" y="85368"/>
                </a:cubicBezTo>
                <a:cubicBezTo>
                  <a:pt x="11851" y="83028"/>
                  <a:pt x="5498" y="80093"/>
                  <a:pt x="0" y="76453"/>
                </a:cubicBezTo>
                <a:lnTo>
                  <a:pt x="0" y="106989"/>
                </a:lnTo>
                <a:cubicBezTo>
                  <a:pt x="0" y="123409"/>
                  <a:pt x="37260" y="136708"/>
                  <a:pt x="83214" y="136708"/>
                </a:cubicBezTo>
                <a:cubicBezTo>
                  <a:pt x="129167" y="136708"/>
                  <a:pt x="166427" y="123409"/>
                  <a:pt x="166427" y="106989"/>
                </a:cubicBezTo>
                <a:lnTo>
                  <a:pt x="166427" y="76453"/>
                </a:lnTo>
                <a:close/>
                <a:moveTo>
                  <a:pt x="166427" y="47551"/>
                </a:moveTo>
                <a:lnTo>
                  <a:pt x="166427" y="29719"/>
                </a:lnTo>
                <a:cubicBezTo>
                  <a:pt x="166427" y="13299"/>
                  <a:pt x="129167" y="0"/>
                  <a:pt x="83214" y="0"/>
                </a:cubicBezTo>
                <a:cubicBezTo>
                  <a:pt x="37260" y="0"/>
                  <a:pt x="0" y="13299"/>
                  <a:pt x="0" y="29719"/>
                </a:cubicBezTo>
                <a:lnTo>
                  <a:pt x="0" y="47551"/>
                </a:lnTo>
                <a:cubicBezTo>
                  <a:pt x="0" y="63971"/>
                  <a:pt x="37260" y="77270"/>
                  <a:pt x="83214" y="77270"/>
                </a:cubicBezTo>
                <a:cubicBezTo>
                  <a:pt x="129167" y="77270"/>
                  <a:pt x="166427" y="63971"/>
                  <a:pt x="166427" y="47551"/>
                </a:cubicBezTo>
                <a:close/>
                <a:moveTo>
                  <a:pt x="148039" y="144807"/>
                </a:moveTo>
                <a:cubicBezTo>
                  <a:pt x="130616" y="151011"/>
                  <a:pt x="107695" y="154540"/>
                  <a:pt x="83214" y="154540"/>
                </a:cubicBezTo>
                <a:cubicBezTo>
                  <a:pt x="58733" y="154540"/>
                  <a:pt x="35812" y="151011"/>
                  <a:pt x="18389" y="144807"/>
                </a:cubicBezTo>
                <a:cubicBezTo>
                  <a:pt x="11851" y="142466"/>
                  <a:pt x="5498" y="139532"/>
                  <a:pt x="0" y="135891"/>
                </a:cubicBezTo>
                <a:lnTo>
                  <a:pt x="0" y="160484"/>
                </a:lnTo>
                <a:cubicBezTo>
                  <a:pt x="0" y="176903"/>
                  <a:pt x="37260" y="190203"/>
                  <a:pt x="83214" y="190203"/>
                </a:cubicBezTo>
                <a:cubicBezTo>
                  <a:pt x="129167" y="190203"/>
                  <a:pt x="166427" y="176903"/>
                  <a:pt x="166427" y="160484"/>
                </a:cubicBezTo>
                <a:lnTo>
                  <a:pt x="166427" y="135891"/>
                </a:lnTo>
                <a:cubicBezTo>
                  <a:pt x="160929" y="139532"/>
                  <a:pt x="154614" y="142466"/>
                  <a:pt x="148039" y="144807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8" name="Text 6"/>
          <p:cNvSpPr/>
          <p:nvPr/>
        </p:nvSpPr>
        <p:spPr>
          <a:xfrm>
            <a:off x="808362" y="1835457"/>
            <a:ext cx="5097435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Two-Memory Store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0608" y="2253903"/>
            <a:ext cx="5240087" cy="1787906"/>
          </a:xfrm>
          <a:custGeom>
            <a:avLst/>
            <a:gdLst/>
            <a:ahLst/>
            <a:cxnLst/>
            <a:rect l="l" t="t" r="r" b="b"/>
            <a:pathLst>
              <a:path w="5240087" h="1787906">
                <a:moveTo>
                  <a:pt x="76075" y="0"/>
                </a:moveTo>
                <a:lnTo>
                  <a:pt x="5164012" y="0"/>
                </a:lnTo>
                <a:cubicBezTo>
                  <a:pt x="5206027" y="0"/>
                  <a:pt x="5240087" y="34060"/>
                  <a:pt x="5240087" y="76075"/>
                </a:cubicBezTo>
                <a:lnTo>
                  <a:pt x="5240087" y="1711831"/>
                </a:lnTo>
                <a:cubicBezTo>
                  <a:pt x="5240087" y="1753846"/>
                  <a:pt x="5206027" y="1787906"/>
                  <a:pt x="5164012" y="1787906"/>
                </a:cubicBezTo>
                <a:lnTo>
                  <a:pt x="76075" y="1787906"/>
                </a:lnTo>
                <a:cubicBezTo>
                  <a:pt x="34060" y="1787906"/>
                  <a:pt x="0" y="1753846"/>
                  <a:pt x="0" y="1711831"/>
                </a:cubicBezTo>
                <a:lnTo>
                  <a:pt x="0" y="76075"/>
                </a:lnTo>
                <a:cubicBezTo>
                  <a:pt x="0" y="34088"/>
                  <a:pt x="34088" y="0"/>
                  <a:pt x="7607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4658" y="2444106"/>
            <a:ext cx="213978" cy="190203"/>
          </a:xfrm>
          <a:custGeom>
            <a:avLst/>
            <a:gdLst/>
            <a:ahLst/>
            <a:cxnLst/>
            <a:rect l="l" t="t" r="r" b="b"/>
            <a:pathLst>
              <a:path w="213978" h="190203">
                <a:moveTo>
                  <a:pt x="47551" y="23775"/>
                </a:moveTo>
                <a:cubicBezTo>
                  <a:pt x="47551" y="10662"/>
                  <a:pt x="58212" y="0"/>
                  <a:pt x="71326" y="0"/>
                </a:cubicBezTo>
                <a:lnTo>
                  <a:pt x="142652" y="0"/>
                </a:lnTo>
                <a:cubicBezTo>
                  <a:pt x="155766" y="0"/>
                  <a:pt x="166427" y="10662"/>
                  <a:pt x="166427" y="23775"/>
                </a:cubicBezTo>
                <a:lnTo>
                  <a:pt x="166427" y="47551"/>
                </a:lnTo>
                <a:lnTo>
                  <a:pt x="190203" y="47551"/>
                </a:lnTo>
                <a:cubicBezTo>
                  <a:pt x="203316" y="47551"/>
                  <a:pt x="213978" y="58212"/>
                  <a:pt x="213978" y="71326"/>
                </a:cubicBezTo>
                <a:lnTo>
                  <a:pt x="213978" y="166427"/>
                </a:lnTo>
                <a:cubicBezTo>
                  <a:pt x="213978" y="179541"/>
                  <a:pt x="203316" y="190203"/>
                  <a:pt x="190203" y="190203"/>
                </a:cubicBezTo>
                <a:lnTo>
                  <a:pt x="23775" y="190203"/>
                </a:lnTo>
                <a:cubicBezTo>
                  <a:pt x="10662" y="190203"/>
                  <a:pt x="0" y="179541"/>
                  <a:pt x="0" y="166427"/>
                </a:cubicBezTo>
                <a:lnTo>
                  <a:pt x="0" y="71326"/>
                </a:lnTo>
                <a:cubicBezTo>
                  <a:pt x="0" y="58212"/>
                  <a:pt x="10662" y="47551"/>
                  <a:pt x="23775" y="47551"/>
                </a:cubicBezTo>
                <a:lnTo>
                  <a:pt x="47551" y="47551"/>
                </a:lnTo>
                <a:lnTo>
                  <a:pt x="47551" y="23775"/>
                </a:lnTo>
                <a:close/>
                <a:moveTo>
                  <a:pt x="101045" y="130764"/>
                </a:moveTo>
                <a:cubicBezTo>
                  <a:pt x="94470" y="130764"/>
                  <a:pt x="89158" y="136077"/>
                  <a:pt x="89158" y="142652"/>
                </a:cubicBezTo>
                <a:lnTo>
                  <a:pt x="89158" y="172371"/>
                </a:lnTo>
                <a:lnTo>
                  <a:pt x="124821" y="172371"/>
                </a:lnTo>
                <a:lnTo>
                  <a:pt x="124821" y="142652"/>
                </a:lnTo>
                <a:cubicBezTo>
                  <a:pt x="124821" y="136077"/>
                  <a:pt x="119508" y="130764"/>
                  <a:pt x="112933" y="130764"/>
                </a:cubicBezTo>
                <a:lnTo>
                  <a:pt x="101045" y="130764"/>
                </a:lnTo>
                <a:close/>
                <a:moveTo>
                  <a:pt x="47551" y="136708"/>
                </a:moveTo>
                <a:lnTo>
                  <a:pt x="47551" y="124821"/>
                </a:lnTo>
                <a:cubicBezTo>
                  <a:pt x="47551" y="121551"/>
                  <a:pt x="44876" y="118877"/>
                  <a:pt x="41607" y="118877"/>
                </a:cubicBezTo>
                <a:lnTo>
                  <a:pt x="29719" y="118877"/>
                </a:lnTo>
                <a:cubicBezTo>
                  <a:pt x="26450" y="118877"/>
                  <a:pt x="23775" y="121551"/>
                  <a:pt x="23775" y="124821"/>
                </a:cubicBezTo>
                <a:lnTo>
                  <a:pt x="23775" y="136708"/>
                </a:lnTo>
                <a:cubicBezTo>
                  <a:pt x="23775" y="139977"/>
                  <a:pt x="26450" y="142652"/>
                  <a:pt x="29719" y="142652"/>
                </a:cubicBezTo>
                <a:lnTo>
                  <a:pt x="41607" y="142652"/>
                </a:lnTo>
                <a:cubicBezTo>
                  <a:pt x="44876" y="142652"/>
                  <a:pt x="47551" y="139977"/>
                  <a:pt x="47551" y="136708"/>
                </a:cubicBezTo>
                <a:close/>
                <a:moveTo>
                  <a:pt x="41607" y="95101"/>
                </a:moveTo>
                <a:cubicBezTo>
                  <a:pt x="44876" y="95101"/>
                  <a:pt x="47551" y="92427"/>
                  <a:pt x="47551" y="89158"/>
                </a:cubicBezTo>
                <a:lnTo>
                  <a:pt x="47551" y="77270"/>
                </a:lnTo>
                <a:cubicBezTo>
                  <a:pt x="47551" y="74001"/>
                  <a:pt x="44876" y="71326"/>
                  <a:pt x="41607" y="71326"/>
                </a:cubicBezTo>
                <a:lnTo>
                  <a:pt x="29719" y="71326"/>
                </a:lnTo>
                <a:cubicBezTo>
                  <a:pt x="26450" y="71326"/>
                  <a:pt x="23775" y="74001"/>
                  <a:pt x="23775" y="77270"/>
                </a:cubicBezTo>
                <a:lnTo>
                  <a:pt x="23775" y="89158"/>
                </a:lnTo>
                <a:cubicBezTo>
                  <a:pt x="23775" y="92427"/>
                  <a:pt x="26450" y="95101"/>
                  <a:pt x="29719" y="95101"/>
                </a:cubicBezTo>
                <a:lnTo>
                  <a:pt x="41607" y="95101"/>
                </a:lnTo>
                <a:close/>
                <a:moveTo>
                  <a:pt x="190203" y="136708"/>
                </a:moveTo>
                <a:lnTo>
                  <a:pt x="190203" y="124821"/>
                </a:lnTo>
                <a:cubicBezTo>
                  <a:pt x="190203" y="121551"/>
                  <a:pt x="187528" y="118877"/>
                  <a:pt x="184259" y="118877"/>
                </a:cubicBezTo>
                <a:lnTo>
                  <a:pt x="172371" y="118877"/>
                </a:lnTo>
                <a:cubicBezTo>
                  <a:pt x="169102" y="118877"/>
                  <a:pt x="166427" y="121551"/>
                  <a:pt x="166427" y="124821"/>
                </a:cubicBezTo>
                <a:lnTo>
                  <a:pt x="166427" y="136708"/>
                </a:lnTo>
                <a:cubicBezTo>
                  <a:pt x="166427" y="139977"/>
                  <a:pt x="169102" y="142652"/>
                  <a:pt x="172371" y="142652"/>
                </a:cubicBezTo>
                <a:lnTo>
                  <a:pt x="184259" y="142652"/>
                </a:lnTo>
                <a:cubicBezTo>
                  <a:pt x="187528" y="142652"/>
                  <a:pt x="190203" y="139977"/>
                  <a:pt x="190203" y="136708"/>
                </a:cubicBezTo>
                <a:close/>
                <a:moveTo>
                  <a:pt x="184259" y="95101"/>
                </a:moveTo>
                <a:cubicBezTo>
                  <a:pt x="187528" y="95101"/>
                  <a:pt x="190203" y="92427"/>
                  <a:pt x="190203" y="89158"/>
                </a:cubicBezTo>
                <a:lnTo>
                  <a:pt x="190203" y="77270"/>
                </a:lnTo>
                <a:cubicBezTo>
                  <a:pt x="190203" y="74001"/>
                  <a:pt x="187528" y="71326"/>
                  <a:pt x="184259" y="71326"/>
                </a:cubicBezTo>
                <a:lnTo>
                  <a:pt x="172371" y="71326"/>
                </a:lnTo>
                <a:cubicBezTo>
                  <a:pt x="169102" y="71326"/>
                  <a:pt x="166427" y="74001"/>
                  <a:pt x="166427" y="77270"/>
                </a:cubicBezTo>
                <a:lnTo>
                  <a:pt x="166427" y="89158"/>
                </a:lnTo>
                <a:cubicBezTo>
                  <a:pt x="166427" y="92427"/>
                  <a:pt x="169102" y="95101"/>
                  <a:pt x="172371" y="95101"/>
                </a:cubicBezTo>
                <a:lnTo>
                  <a:pt x="184259" y="95101"/>
                </a:lnTo>
                <a:close/>
                <a:moveTo>
                  <a:pt x="98073" y="38635"/>
                </a:moveTo>
                <a:lnTo>
                  <a:pt x="98073" y="50523"/>
                </a:lnTo>
                <a:lnTo>
                  <a:pt x="86186" y="50523"/>
                </a:lnTo>
                <a:cubicBezTo>
                  <a:pt x="82917" y="50523"/>
                  <a:pt x="80242" y="53197"/>
                  <a:pt x="80242" y="56466"/>
                </a:cubicBezTo>
                <a:lnTo>
                  <a:pt x="80242" y="62410"/>
                </a:lnTo>
                <a:cubicBezTo>
                  <a:pt x="80242" y="65679"/>
                  <a:pt x="82917" y="68354"/>
                  <a:pt x="86186" y="68354"/>
                </a:cubicBezTo>
                <a:lnTo>
                  <a:pt x="98073" y="68354"/>
                </a:lnTo>
                <a:lnTo>
                  <a:pt x="98073" y="80242"/>
                </a:lnTo>
                <a:cubicBezTo>
                  <a:pt x="98073" y="83511"/>
                  <a:pt x="100748" y="86186"/>
                  <a:pt x="104017" y="86186"/>
                </a:cubicBezTo>
                <a:lnTo>
                  <a:pt x="109961" y="86186"/>
                </a:lnTo>
                <a:cubicBezTo>
                  <a:pt x="113230" y="86186"/>
                  <a:pt x="115905" y="83511"/>
                  <a:pt x="115905" y="80242"/>
                </a:cubicBezTo>
                <a:lnTo>
                  <a:pt x="115905" y="68354"/>
                </a:lnTo>
                <a:lnTo>
                  <a:pt x="127793" y="68354"/>
                </a:lnTo>
                <a:cubicBezTo>
                  <a:pt x="131062" y="68354"/>
                  <a:pt x="133736" y="65679"/>
                  <a:pt x="133736" y="62410"/>
                </a:cubicBezTo>
                <a:lnTo>
                  <a:pt x="133736" y="56466"/>
                </a:lnTo>
                <a:cubicBezTo>
                  <a:pt x="133736" y="53197"/>
                  <a:pt x="131062" y="50523"/>
                  <a:pt x="127793" y="50523"/>
                </a:cubicBezTo>
                <a:lnTo>
                  <a:pt x="115905" y="50523"/>
                </a:lnTo>
                <a:lnTo>
                  <a:pt x="115905" y="38635"/>
                </a:lnTo>
                <a:cubicBezTo>
                  <a:pt x="115905" y="35366"/>
                  <a:pt x="113230" y="32691"/>
                  <a:pt x="109961" y="32691"/>
                </a:cubicBezTo>
                <a:lnTo>
                  <a:pt x="104017" y="32691"/>
                </a:lnTo>
                <a:cubicBezTo>
                  <a:pt x="100748" y="32691"/>
                  <a:pt x="98073" y="35366"/>
                  <a:pt x="98073" y="38635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1" name="Text 9"/>
          <p:cNvSpPr/>
          <p:nvPr/>
        </p:nvSpPr>
        <p:spPr>
          <a:xfrm>
            <a:off x="1074646" y="2406066"/>
            <a:ext cx="1084156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Store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771" y="2748431"/>
            <a:ext cx="5002334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Structured, safety-critical, PHI-sensitive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4168" y="3052755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4" name="Text 12"/>
          <p:cNvSpPr/>
          <p:nvPr/>
        </p:nvSpPr>
        <p:spPr>
          <a:xfrm>
            <a:off x="941504" y="3014715"/>
            <a:ext cx="1455051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Conditions &amp; diagnoses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4168" y="3280998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6" name="Text 14"/>
          <p:cNvSpPr/>
          <p:nvPr/>
        </p:nvSpPr>
        <p:spPr>
          <a:xfrm>
            <a:off x="941504" y="3242958"/>
            <a:ext cx="1445541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Medications &amp; dosages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4168" y="3509242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8" name="Text 16"/>
          <p:cNvSpPr/>
          <p:nvPr/>
        </p:nvSpPr>
        <p:spPr>
          <a:xfrm>
            <a:off x="941504" y="3471201"/>
            <a:ext cx="1274359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Allergies &amp; reactions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4168" y="3737485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0" name="Text 18"/>
          <p:cNvSpPr/>
          <p:nvPr/>
        </p:nvSpPr>
        <p:spPr>
          <a:xfrm>
            <a:off x="941504" y="3699445"/>
            <a:ext cx="1169747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 results &amp; vitals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0608" y="4193972"/>
            <a:ext cx="5240087" cy="1559663"/>
          </a:xfrm>
          <a:custGeom>
            <a:avLst/>
            <a:gdLst/>
            <a:ahLst/>
            <a:cxnLst/>
            <a:rect l="l" t="t" r="r" b="b"/>
            <a:pathLst>
              <a:path w="5240087" h="1559663">
                <a:moveTo>
                  <a:pt x="76080" y="0"/>
                </a:moveTo>
                <a:lnTo>
                  <a:pt x="5164007" y="0"/>
                </a:lnTo>
                <a:cubicBezTo>
                  <a:pt x="5206025" y="0"/>
                  <a:pt x="5240087" y="34062"/>
                  <a:pt x="5240087" y="76080"/>
                </a:cubicBezTo>
                <a:lnTo>
                  <a:pt x="5240087" y="1483583"/>
                </a:lnTo>
                <a:cubicBezTo>
                  <a:pt x="5240087" y="1525601"/>
                  <a:pt x="5206025" y="1559663"/>
                  <a:pt x="5164007" y="1559663"/>
                </a:cubicBezTo>
                <a:lnTo>
                  <a:pt x="76080" y="1559663"/>
                </a:lnTo>
                <a:cubicBezTo>
                  <a:pt x="34062" y="1559663"/>
                  <a:pt x="0" y="1525601"/>
                  <a:pt x="0" y="1483583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2771" y="4384175"/>
            <a:ext cx="237754" cy="190203"/>
          </a:xfrm>
          <a:custGeom>
            <a:avLst/>
            <a:gdLst/>
            <a:ahLst/>
            <a:cxnLst/>
            <a:rect l="l" t="t" r="r" b="b"/>
            <a:pathLst>
              <a:path w="237754" h="190203">
                <a:moveTo>
                  <a:pt x="95287" y="2972"/>
                </a:moveTo>
                <a:cubicBezTo>
                  <a:pt x="119891" y="2972"/>
                  <a:pt x="139866" y="22947"/>
                  <a:pt x="139866" y="47551"/>
                </a:cubicBezTo>
                <a:cubicBezTo>
                  <a:pt x="139866" y="72154"/>
                  <a:pt x="119891" y="92129"/>
                  <a:pt x="95287" y="92129"/>
                </a:cubicBezTo>
                <a:cubicBezTo>
                  <a:pt x="70683" y="92129"/>
                  <a:pt x="50708" y="72154"/>
                  <a:pt x="50708" y="47551"/>
                </a:cubicBezTo>
                <a:cubicBezTo>
                  <a:pt x="50708" y="22947"/>
                  <a:pt x="70683" y="2972"/>
                  <a:pt x="95287" y="2972"/>
                </a:cubicBezTo>
                <a:close/>
                <a:moveTo>
                  <a:pt x="84217" y="112933"/>
                </a:moveTo>
                <a:lnTo>
                  <a:pt x="106283" y="112933"/>
                </a:lnTo>
                <a:lnTo>
                  <a:pt x="106840" y="112933"/>
                </a:lnTo>
                <a:cubicBezTo>
                  <a:pt x="102048" y="122889"/>
                  <a:pt x="103943" y="134554"/>
                  <a:pt x="111113" y="142466"/>
                </a:cubicBezTo>
                <a:cubicBezTo>
                  <a:pt x="103609" y="150751"/>
                  <a:pt x="101900" y="163195"/>
                  <a:pt x="107621" y="173449"/>
                </a:cubicBezTo>
                <a:lnTo>
                  <a:pt x="115979" y="188457"/>
                </a:lnTo>
                <a:cubicBezTo>
                  <a:pt x="116313" y="189051"/>
                  <a:pt x="116685" y="189646"/>
                  <a:pt x="117056" y="190203"/>
                </a:cubicBezTo>
                <a:lnTo>
                  <a:pt x="29013" y="190203"/>
                </a:lnTo>
                <a:cubicBezTo>
                  <a:pt x="22921" y="190203"/>
                  <a:pt x="17980" y="185262"/>
                  <a:pt x="17980" y="179170"/>
                </a:cubicBezTo>
                <a:cubicBezTo>
                  <a:pt x="17980" y="142578"/>
                  <a:pt x="47625" y="112933"/>
                  <a:pt x="84217" y="112933"/>
                </a:cubicBezTo>
                <a:close/>
                <a:moveTo>
                  <a:pt x="160707" y="91981"/>
                </a:moveTo>
                <a:cubicBezTo>
                  <a:pt x="160707" y="87040"/>
                  <a:pt x="164681" y="83065"/>
                  <a:pt x="169622" y="83065"/>
                </a:cubicBezTo>
                <a:lnTo>
                  <a:pt x="187454" y="83065"/>
                </a:lnTo>
                <a:cubicBezTo>
                  <a:pt x="192395" y="83065"/>
                  <a:pt x="196370" y="87040"/>
                  <a:pt x="196370" y="91981"/>
                </a:cubicBezTo>
                <a:lnTo>
                  <a:pt x="196370" y="94247"/>
                </a:lnTo>
                <a:cubicBezTo>
                  <a:pt x="196370" y="101268"/>
                  <a:pt x="205322" y="106432"/>
                  <a:pt x="211415" y="102940"/>
                </a:cubicBezTo>
                <a:lnTo>
                  <a:pt x="213272" y="101863"/>
                </a:lnTo>
                <a:cubicBezTo>
                  <a:pt x="217582" y="99374"/>
                  <a:pt x="223117" y="100897"/>
                  <a:pt x="225531" y="105243"/>
                </a:cubicBezTo>
                <a:lnTo>
                  <a:pt x="233853" y="120177"/>
                </a:lnTo>
                <a:cubicBezTo>
                  <a:pt x="236156" y="124338"/>
                  <a:pt x="234819" y="129539"/>
                  <a:pt x="230807" y="132065"/>
                </a:cubicBezTo>
                <a:lnTo>
                  <a:pt x="229061" y="133142"/>
                </a:lnTo>
                <a:cubicBezTo>
                  <a:pt x="223043" y="136894"/>
                  <a:pt x="223043" y="147964"/>
                  <a:pt x="229061" y="151754"/>
                </a:cubicBezTo>
                <a:lnTo>
                  <a:pt x="230770" y="152831"/>
                </a:lnTo>
                <a:cubicBezTo>
                  <a:pt x="234782" y="155357"/>
                  <a:pt x="236156" y="160558"/>
                  <a:pt x="233853" y="164719"/>
                </a:cubicBezTo>
                <a:lnTo>
                  <a:pt x="225494" y="179727"/>
                </a:lnTo>
                <a:cubicBezTo>
                  <a:pt x="223080" y="184073"/>
                  <a:pt x="217544" y="185633"/>
                  <a:pt x="213235" y="183107"/>
                </a:cubicBezTo>
                <a:lnTo>
                  <a:pt x="211415" y="182030"/>
                </a:lnTo>
                <a:cubicBezTo>
                  <a:pt x="205322" y="178501"/>
                  <a:pt x="196370" y="183702"/>
                  <a:pt x="196370" y="190723"/>
                </a:cubicBezTo>
                <a:lnTo>
                  <a:pt x="196370" y="192989"/>
                </a:lnTo>
                <a:cubicBezTo>
                  <a:pt x="196370" y="197930"/>
                  <a:pt x="192395" y="201905"/>
                  <a:pt x="187454" y="201905"/>
                </a:cubicBezTo>
                <a:lnTo>
                  <a:pt x="169622" y="201905"/>
                </a:lnTo>
                <a:cubicBezTo>
                  <a:pt x="164681" y="201905"/>
                  <a:pt x="160707" y="197930"/>
                  <a:pt x="160707" y="192989"/>
                </a:cubicBezTo>
                <a:lnTo>
                  <a:pt x="160707" y="190797"/>
                </a:lnTo>
                <a:cubicBezTo>
                  <a:pt x="160707" y="183739"/>
                  <a:pt x="151716" y="178538"/>
                  <a:pt x="145587" y="182067"/>
                </a:cubicBezTo>
                <a:lnTo>
                  <a:pt x="143804" y="183107"/>
                </a:lnTo>
                <a:cubicBezTo>
                  <a:pt x="139494" y="185596"/>
                  <a:pt x="133996" y="184073"/>
                  <a:pt x="131545" y="179727"/>
                </a:cubicBezTo>
                <a:lnTo>
                  <a:pt x="123149" y="164719"/>
                </a:lnTo>
                <a:cubicBezTo>
                  <a:pt x="120846" y="160558"/>
                  <a:pt x="122183" y="155320"/>
                  <a:pt x="126232" y="152794"/>
                </a:cubicBezTo>
                <a:lnTo>
                  <a:pt x="127867" y="151791"/>
                </a:lnTo>
                <a:cubicBezTo>
                  <a:pt x="133922" y="148039"/>
                  <a:pt x="133922" y="136894"/>
                  <a:pt x="127867" y="133142"/>
                </a:cubicBezTo>
                <a:lnTo>
                  <a:pt x="126195" y="132102"/>
                </a:lnTo>
                <a:cubicBezTo>
                  <a:pt x="122146" y="129576"/>
                  <a:pt x="120809" y="124338"/>
                  <a:pt x="123112" y="120177"/>
                </a:cubicBezTo>
                <a:lnTo>
                  <a:pt x="131470" y="105206"/>
                </a:lnTo>
                <a:cubicBezTo>
                  <a:pt x="133885" y="100859"/>
                  <a:pt x="139420" y="99336"/>
                  <a:pt x="143692" y="101825"/>
                </a:cubicBezTo>
                <a:lnTo>
                  <a:pt x="145475" y="102866"/>
                </a:lnTo>
                <a:cubicBezTo>
                  <a:pt x="151605" y="106395"/>
                  <a:pt x="160595" y="101194"/>
                  <a:pt x="160595" y="94136"/>
                </a:cubicBezTo>
                <a:lnTo>
                  <a:pt x="160595" y="91944"/>
                </a:lnTo>
                <a:close/>
                <a:moveTo>
                  <a:pt x="197818" y="142578"/>
                </a:moveTo>
                <a:cubicBezTo>
                  <a:pt x="197818" y="131916"/>
                  <a:pt x="189162" y="123260"/>
                  <a:pt x="178501" y="123260"/>
                </a:cubicBezTo>
                <a:cubicBezTo>
                  <a:pt x="167839" y="123260"/>
                  <a:pt x="159183" y="131916"/>
                  <a:pt x="159183" y="142578"/>
                </a:cubicBezTo>
                <a:cubicBezTo>
                  <a:pt x="159183" y="153239"/>
                  <a:pt x="167839" y="161895"/>
                  <a:pt x="178501" y="161895"/>
                </a:cubicBezTo>
                <a:cubicBezTo>
                  <a:pt x="189162" y="161895"/>
                  <a:pt x="197818" y="153239"/>
                  <a:pt x="197818" y="142578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74646" y="4346134"/>
            <a:ext cx="1359950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Preference Store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771" y="4688499"/>
            <a:ext cx="5002334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Conversational patterns and user habits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4168" y="4992824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6" name="Text 24"/>
          <p:cNvSpPr/>
          <p:nvPr/>
        </p:nvSpPr>
        <p:spPr>
          <a:xfrm>
            <a:off x="941504" y="4954783"/>
            <a:ext cx="1293379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tone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4168" y="5221067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8" name="Text 26"/>
          <p:cNvSpPr/>
          <p:nvPr/>
        </p:nvSpPr>
        <p:spPr>
          <a:xfrm>
            <a:off x="941504" y="5183027"/>
            <a:ext cx="1369460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Reminder preferences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4168" y="5449310"/>
            <a:ext cx="99856" cy="114122"/>
          </a:xfrm>
          <a:custGeom>
            <a:avLst/>
            <a:gdLst/>
            <a:ahLst/>
            <a:cxnLst/>
            <a:rect l="l" t="t" r="r" b="b"/>
            <a:pathLst>
              <a:path w="99856" h="114122">
                <a:moveTo>
                  <a:pt x="96914" y="15625"/>
                </a:moveTo>
                <a:cubicBezTo>
                  <a:pt x="100102" y="17943"/>
                  <a:pt x="100815" y="22401"/>
                  <a:pt x="98497" y="25588"/>
                </a:cubicBezTo>
                <a:lnTo>
                  <a:pt x="41436" y="104047"/>
                </a:lnTo>
                <a:cubicBezTo>
                  <a:pt x="40210" y="105741"/>
                  <a:pt x="38315" y="106788"/>
                  <a:pt x="36220" y="106967"/>
                </a:cubicBezTo>
                <a:cubicBezTo>
                  <a:pt x="34125" y="107145"/>
                  <a:pt x="32097" y="106365"/>
                  <a:pt x="30626" y="104894"/>
                </a:cubicBezTo>
                <a:lnTo>
                  <a:pt x="2095" y="76363"/>
                </a:lnTo>
                <a:cubicBezTo>
                  <a:pt x="-691" y="73577"/>
                  <a:pt x="-691" y="69053"/>
                  <a:pt x="2095" y="66266"/>
                </a:cubicBezTo>
                <a:cubicBezTo>
                  <a:pt x="4881" y="63480"/>
                  <a:pt x="9406" y="63480"/>
                  <a:pt x="12192" y="66266"/>
                </a:cubicBezTo>
                <a:lnTo>
                  <a:pt x="34816" y="88890"/>
                </a:lnTo>
                <a:lnTo>
                  <a:pt x="86973" y="17185"/>
                </a:lnTo>
                <a:cubicBezTo>
                  <a:pt x="89291" y="13998"/>
                  <a:pt x="93749" y="13284"/>
                  <a:pt x="96937" y="15603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30" name="Text 28"/>
          <p:cNvSpPr/>
          <p:nvPr/>
        </p:nvSpPr>
        <p:spPr>
          <a:xfrm>
            <a:off x="941504" y="5411270"/>
            <a:ext cx="108415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Interaction habits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9987" y="1645254"/>
            <a:ext cx="5620493" cy="3880137"/>
          </a:xfrm>
          <a:custGeom>
            <a:avLst/>
            <a:gdLst/>
            <a:ahLst/>
            <a:cxnLst/>
            <a:rect l="l" t="t" r="r" b="b"/>
            <a:pathLst>
              <a:path w="5620493" h="3880137">
                <a:moveTo>
                  <a:pt x="114115" y="0"/>
                </a:moveTo>
                <a:lnTo>
                  <a:pt x="5506378" y="0"/>
                </a:lnTo>
                <a:cubicBezTo>
                  <a:pt x="5569402" y="0"/>
                  <a:pt x="5620493" y="51091"/>
                  <a:pt x="5620493" y="114115"/>
                </a:cubicBezTo>
                <a:lnTo>
                  <a:pt x="5620493" y="3766022"/>
                </a:lnTo>
                <a:cubicBezTo>
                  <a:pt x="5620493" y="3829046"/>
                  <a:pt x="5569402" y="3880137"/>
                  <a:pt x="5506378" y="3880137"/>
                </a:cubicBezTo>
                <a:lnTo>
                  <a:pt x="114115" y="3880137"/>
                </a:lnTo>
                <a:cubicBezTo>
                  <a:pt x="51091" y="3880137"/>
                  <a:pt x="0" y="3829046"/>
                  <a:pt x="0" y="3766022"/>
                </a:cubicBezTo>
                <a:lnTo>
                  <a:pt x="0" y="114115"/>
                </a:lnTo>
                <a:cubicBezTo>
                  <a:pt x="0" y="51091"/>
                  <a:pt x="51091" y="0"/>
                  <a:pt x="1141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061" dist="38041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3965" y="1873498"/>
            <a:ext cx="190203" cy="190203"/>
          </a:xfrm>
          <a:custGeom>
            <a:avLst/>
            <a:gdLst/>
            <a:ahLst/>
            <a:cxnLst/>
            <a:rect l="l" t="t" r="r" b="b"/>
            <a:pathLst>
              <a:path w="190203" h="190203">
                <a:moveTo>
                  <a:pt x="95101" y="0"/>
                </a:moveTo>
                <a:cubicBezTo>
                  <a:pt x="147589" y="0"/>
                  <a:pt x="190203" y="42614"/>
                  <a:pt x="190203" y="95101"/>
                </a:cubicBezTo>
                <a:cubicBezTo>
                  <a:pt x="190203" y="147589"/>
                  <a:pt x="147589" y="190203"/>
                  <a:pt x="95101" y="190203"/>
                </a:cubicBezTo>
                <a:cubicBezTo>
                  <a:pt x="42614" y="190203"/>
                  <a:pt x="0" y="147589"/>
                  <a:pt x="0" y="95101"/>
                </a:cubicBezTo>
                <a:cubicBezTo>
                  <a:pt x="0" y="42614"/>
                  <a:pt x="42614" y="0"/>
                  <a:pt x="95101" y="0"/>
                </a:cubicBezTo>
                <a:close/>
                <a:moveTo>
                  <a:pt x="86186" y="44579"/>
                </a:moveTo>
                <a:lnTo>
                  <a:pt x="86186" y="95101"/>
                </a:lnTo>
                <a:cubicBezTo>
                  <a:pt x="86186" y="98073"/>
                  <a:pt x="87672" y="100859"/>
                  <a:pt x="90161" y="102531"/>
                </a:cubicBezTo>
                <a:lnTo>
                  <a:pt x="125824" y="126307"/>
                </a:lnTo>
                <a:cubicBezTo>
                  <a:pt x="129910" y="129056"/>
                  <a:pt x="135445" y="127941"/>
                  <a:pt x="138194" y="123818"/>
                </a:cubicBezTo>
                <a:cubicBezTo>
                  <a:pt x="140943" y="119694"/>
                  <a:pt x="139829" y="114196"/>
                  <a:pt x="135705" y="111447"/>
                </a:cubicBezTo>
                <a:lnTo>
                  <a:pt x="104017" y="90346"/>
                </a:lnTo>
                <a:lnTo>
                  <a:pt x="104017" y="44579"/>
                </a:lnTo>
                <a:cubicBezTo>
                  <a:pt x="104017" y="39638"/>
                  <a:pt x="100042" y="35663"/>
                  <a:pt x="95101" y="35663"/>
                </a:cubicBezTo>
                <a:cubicBezTo>
                  <a:pt x="90161" y="35663"/>
                  <a:pt x="86186" y="39638"/>
                  <a:pt x="86186" y="44579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33" name="Text 31"/>
          <p:cNvSpPr/>
          <p:nvPr/>
        </p:nvSpPr>
        <p:spPr>
          <a:xfrm>
            <a:off x="6617943" y="1835457"/>
            <a:ext cx="5097435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Memory Lifecycle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80190" y="2253903"/>
            <a:ext cx="5316168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CarePilot prevents stale clinical assumptions by classifying memory with time-awareness: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9210" y="2900593"/>
            <a:ext cx="38041" cy="874933"/>
          </a:xfrm>
          <a:custGeom>
            <a:avLst/>
            <a:gdLst/>
            <a:ahLst/>
            <a:cxnLst/>
            <a:rect l="l" t="t" r="r" b="b"/>
            <a:pathLst>
              <a:path w="38041" h="874933">
                <a:moveTo>
                  <a:pt x="0" y="0"/>
                </a:moveTo>
                <a:lnTo>
                  <a:pt x="38041" y="0"/>
                </a:lnTo>
                <a:lnTo>
                  <a:pt x="38041" y="874933"/>
                </a:lnTo>
                <a:lnTo>
                  <a:pt x="0" y="874933"/>
                </a:lnTo>
                <a:lnTo>
                  <a:pt x="0" y="0"/>
                </a:ln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36" name="Text 34"/>
          <p:cNvSpPr/>
          <p:nvPr/>
        </p:nvSpPr>
        <p:spPr>
          <a:xfrm>
            <a:off x="6570393" y="2900593"/>
            <a:ext cx="512596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LONG_LIVED_FACT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70393" y="3166877"/>
            <a:ext cx="511645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Allergies, chronic conditions—permanent unless updated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70393" y="3433161"/>
            <a:ext cx="5049885" cy="342365"/>
          </a:xfrm>
          <a:custGeom>
            <a:avLst/>
            <a:gdLst/>
            <a:ahLst/>
            <a:cxnLst/>
            <a:rect l="l" t="t" r="r" b="b"/>
            <a:pathLst>
              <a:path w="5049885" h="342365">
                <a:moveTo>
                  <a:pt x="38040" y="0"/>
                </a:moveTo>
                <a:lnTo>
                  <a:pt x="5011844" y="0"/>
                </a:lnTo>
                <a:cubicBezTo>
                  <a:pt x="5032853" y="0"/>
                  <a:pt x="5049885" y="17031"/>
                  <a:pt x="5049885" y="38040"/>
                </a:cubicBezTo>
                <a:lnTo>
                  <a:pt x="5049885" y="304325"/>
                </a:lnTo>
                <a:cubicBezTo>
                  <a:pt x="5049885" y="325334"/>
                  <a:pt x="5032853" y="342365"/>
                  <a:pt x="5011844" y="342365"/>
                </a:cubicBezTo>
                <a:lnTo>
                  <a:pt x="38040" y="342365"/>
                </a:lnTo>
                <a:cubicBezTo>
                  <a:pt x="17045" y="342365"/>
                  <a:pt x="0" y="325320"/>
                  <a:pt x="0" y="304325"/>
                </a:cubicBezTo>
                <a:lnTo>
                  <a:pt x="0" y="38040"/>
                </a:lnTo>
                <a:cubicBezTo>
                  <a:pt x="0" y="17031"/>
                  <a:pt x="17031" y="0"/>
                  <a:pt x="3804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9" name="Text 37"/>
          <p:cNvSpPr/>
          <p:nvPr/>
        </p:nvSpPr>
        <p:spPr>
          <a:xfrm>
            <a:off x="6570393" y="3433161"/>
            <a:ext cx="5116456" cy="342365"/>
          </a:xfrm>
          <a:prstGeom prst="rect">
            <a:avLst/>
          </a:prstGeom>
          <a:noFill/>
          <a:ln/>
        </p:spPr>
        <p:txBody>
          <a:bodyPr wrap="square" lIns="76081" tIns="76081" rIns="76081" bIns="76081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"Penicillin allergy causes hives"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9210" y="3889647"/>
            <a:ext cx="38041" cy="874933"/>
          </a:xfrm>
          <a:custGeom>
            <a:avLst/>
            <a:gdLst/>
            <a:ahLst/>
            <a:cxnLst/>
            <a:rect l="l" t="t" r="r" b="b"/>
            <a:pathLst>
              <a:path w="38041" h="874933">
                <a:moveTo>
                  <a:pt x="0" y="0"/>
                </a:moveTo>
                <a:lnTo>
                  <a:pt x="38041" y="0"/>
                </a:lnTo>
                <a:lnTo>
                  <a:pt x="38041" y="874933"/>
                </a:lnTo>
                <a:lnTo>
                  <a:pt x="0" y="874933"/>
                </a:lnTo>
                <a:lnTo>
                  <a:pt x="0" y="0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41" name="Text 39"/>
          <p:cNvSpPr/>
          <p:nvPr/>
        </p:nvSpPr>
        <p:spPr>
          <a:xfrm>
            <a:off x="6570393" y="3889647"/>
            <a:ext cx="512596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TIME_BOUND_STATE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70393" y="4155931"/>
            <a:ext cx="511645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Acute symptoms, temporary states—requires reconfirmation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70393" y="4422215"/>
            <a:ext cx="5049885" cy="342365"/>
          </a:xfrm>
          <a:custGeom>
            <a:avLst/>
            <a:gdLst/>
            <a:ahLst/>
            <a:cxnLst/>
            <a:rect l="l" t="t" r="r" b="b"/>
            <a:pathLst>
              <a:path w="5049885" h="342365">
                <a:moveTo>
                  <a:pt x="38040" y="0"/>
                </a:moveTo>
                <a:lnTo>
                  <a:pt x="5011844" y="0"/>
                </a:lnTo>
                <a:cubicBezTo>
                  <a:pt x="5032853" y="0"/>
                  <a:pt x="5049885" y="17031"/>
                  <a:pt x="5049885" y="38040"/>
                </a:cubicBezTo>
                <a:lnTo>
                  <a:pt x="5049885" y="304325"/>
                </a:lnTo>
                <a:cubicBezTo>
                  <a:pt x="5049885" y="325334"/>
                  <a:pt x="5032853" y="342365"/>
                  <a:pt x="5011844" y="342365"/>
                </a:cubicBezTo>
                <a:lnTo>
                  <a:pt x="38040" y="342365"/>
                </a:lnTo>
                <a:cubicBezTo>
                  <a:pt x="17045" y="342365"/>
                  <a:pt x="0" y="325320"/>
                  <a:pt x="0" y="304325"/>
                </a:cubicBezTo>
                <a:lnTo>
                  <a:pt x="0" y="38040"/>
                </a:lnTo>
                <a:cubicBezTo>
                  <a:pt x="0" y="17031"/>
                  <a:pt x="17031" y="0"/>
                  <a:pt x="3804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4" name="Text 42"/>
          <p:cNvSpPr/>
          <p:nvPr/>
        </p:nvSpPr>
        <p:spPr>
          <a:xfrm>
            <a:off x="6570393" y="4422215"/>
            <a:ext cx="5116456" cy="342365"/>
          </a:xfrm>
          <a:prstGeom prst="rect">
            <a:avLst/>
          </a:prstGeom>
          <a:noFill/>
          <a:ln/>
        </p:spPr>
        <p:txBody>
          <a:bodyPr wrap="square" lIns="76081" tIns="76081" rIns="76081" bIns="76081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am sick" (Day 0 → Day 2 reconfirm → Day 7 auto-resolve)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9210" y="4878702"/>
            <a:ext cx="38041" cy="456487"/>
          </a:xfrm>
          <a:custGeom>
            <a:avLst/>
            <a:gdLst/>
            <a:ahLst/>
            <a:cxnLst/>
            <a:rect l="l" t="t" r="r" b="b"/>
            <a:pathLst>
              <a:path w="38041" h="456487">
                <a:moveTo>
                  <a:pt x="0" y="0"/>
                </a:moveTo>
                <a:lnTo>
                  <a:pt x="38041" y="0"/>
                </a:lnTo>
                <a:lnTo>
                  <a:pt x="38041" y="456487"/>
                </a:lnTo>
                <a:lnTo>
                  <a:pt x="0" y="456487"/>
                </a:lnTo>
                <a:lnTo>
                  <a:pt x="0" y="0"/>
                </a:lnTo>
                <a:close/>
              </a:path>
            </a:pathLst>
          </a:custGeom>
          <a:solidFill>
            <a:srgbClr val="C5C1B9"/>
          </a:solidFill>
          <a:ln/>
        </p:spPr>
      </p:sp>
      <p:sp>
        <p:nvSpPr>
          <p:cNvPr id="46" name="Text 44"/>
          <p:cNvSpPr/>
          <p:nvPr/>
        </p:nvSpPr>
        <p:spPr>
          <a:xfrm>
            <a:off x="6570393" y="4878702"/>
            <a:ext cx="512596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&amp; INFERENCE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70393" y="5144986"/>
            <a:ext cx="511645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 actions and low-trust assumptions with short TTL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1591" y="5610983"/>
            <a:ext cx="5601473" cy="1160237"/>
          </a:xfrm>
          <a:custGeom>
            <a:avLst/>
            <a:gdLst/>
            <a:ahLst/>
            <a:cxnLst/>
            <a:rect l="l" t="t" r="r" b="b"/>
            <a:pathLst>
              <a:path w="5601473" h="1160237">
                <a:moveTo>
                  <a:pt x="114121" y="0"/>
                </a:moveTo>
                <a:lnTo>
                  <a:pt x="5487352" y="0"/>
                </a:lnTo>
                <a:cubicBezTo>
                  <a:pt x="5550379" y="0"/>
                  <a:pt x="5601473" y="51094"/>
                  <a:pt x="5601473" y="114121"/>
                </a:cubicBezTo>
                <a:lnTo>
                  <a:pt x="5601473" y="1046116"/>
                </a:lnTo>
                <a:cubicBezTo>
                  <a:pt x="5601473" y="1109143"/>
                  <a:pt x="5550379" y="1160237"/>
                  <a:pt x="5487352" y="1160237"/>
                </a:cubicBezTo>
                <a:lnTo>
                  <a:pt x="114121" y="1160237"/>
                </a:lnTo>
                <a:cubicBezTo>
                  <a:pt x="51094" y="1160237"/>
                  <a:pt x="0" y="1109143"/>
                  <a:pt x="0" y="1046116"/>
                </a:cubicBezTo>
                <a:lnTo>
                  <a:pt x="0" y="114121"/>
                </a:lnTo>
                <a:cubicBezTo>
                  <a:pt x="0" y="51094"/>
                  <a:pt x="51094" y="0"/>
                  <a:pt x="114121" y="0"/>
                </a:cubicBezTo>
                <a:close/>
              </a:path>
            </a:pathLst>
          </a:custGeom>
          <a:solidFill>
            <a:srgbClr val="D88C72">
              <a:alpha val="10196"/>
            </a:srgbClr>
          </a:solidFill>
          <a:ln w="25400">
            <a:solidFill>
              <a:srgbClr val="D88C72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67039" y="5810696"/>
            <a:ext cx="190203" cy="190203"/>
          </a:xfrm>
          <a:custGeom>
            <a:avLst/>
            <a:gdLst/>
            <a:ahLst/>
            <a:cxnLst/>
            <a:rect l="l" t="t" r="r" b="b"/>
            <a:pathLst>
              <a:path w="190203" h="190203">
                <a:moveTo>
                  <a:pt x="44579" y="20803"/>
                </a:moveTo>
                <a:cubicBezTo>
                  <a:pt x="44579" y="9324"/>
                  <a:pt x="53903" y="0"/>
                  <a:pt x="65382" y="0"/>
                </a:cubicBezTo>
                <a:lnTo>
                  <a:pt x="74298" y="0"/>
                </a:lnTo>
                <a:cubicBezTo>
                  <a:pt x="80873" y="0"/>
                  <a:pt x="86186" y="5312"/>
                  <a:pt x="86186" y="11888"/>
                </a:cubicBezTo>
                <a:lnTo>
                  <a:pt x="86186" y="178315"/>
                </a:lnTo>
                <a:cubicBezTo>
                  <a:pt x="86186" y="184891"/>
                  <a:pt x="80873" y="190203"/>
                  <a:pt x="74298" y="190203"/>
                </a:cubicBezTo>
                <a:lnTo>
                  <a:pt x="62410" y="190203"/>
                </a:lnTo>
                <a:cubicBezTo>
                  <a:pt x="51340" y="190203"/>
                  <a:pt x="42016" y="182624"/>
                  <a:pt x="39378" y="172371"/>
                </a:cubicBezTo>
                <a:cubicBezTo>
                  <a:pt x="39118" y="172371"/>
                  <a:pt x="38895" y="172371"/>
                  <a:pt x="38635" y="172371"/>
                </a:cubicBezTo>
                <a:cubicBezTo>
                  <a:pt x="22215" y="172371"/>
                  <a:pt x="8916" y="159072"/>
                  <a:pt x="8916" y="142652"/>
                </a:cubicBezTo>
                <a:cubicBezTo>
                  <a:pt x="8916" y="135965"/>
                  <a:pt x="11145" y="129799"/>
                  <a:pt x="14860" y="124821"/>
                </a:cubicBezTo>
                <a:cubicBezTo>
                  <a:pt x="7653" y="119397"/>
                  <a:pt x="2972" y="110778"/>
                  <a:pt x="2972" y="101045"/>
                </a:cubicBezTo>
                <a:cubicBezTo>
                  <a:pt x="2972" y="89566"/>
                  <a:pt x="9510" y="79573"/>
                  <a:pt x="19020" y="74632"/>
                </a:cubicBezTo>
                <a:cubicBezTo>
                  <a:pt x="16383" y="70174"/>
                  <a:pt x="14860" y="64974"/>
                  <a:pt x="14860" y="59438"/>
                </a:cubicBezTo>
                <a:cubicBezTo>
                  <a:pt x="14860" y="43019"/>
                  <a:pt x="28159" y="29719"/>
                  <a:pt x="44579" y="29719"/>
                </a:cubicBezTo>
                <a:lnTo>
                  <a:pt x="44579" y="20803"/>
                </a:lnTo>
                <a:close/>
                <a:moveTo>
                  <a:pt x="145624" y="20803"/>
                </a:moveTo>
                <a:lnTo>
                  <a:pt x="145624" y="29719"/>
                </a:lnTo>
                <a:cubicBezTo>
                  <a:pt x="162044" y="29719"/>
                  <a:pt x="175343" y="43019"/>
                  <a:pt x="175343" y="59438"/>
                </a:cubicBezTo>
                <a:cubicBezTo>
                  <a:pt x="175343" y="65011"/>
                  <a:pt x="173820" y="70212"/>
                  <a:pt x="171183" y="74632"/>
                </a:cubicBezTo>
                <a:cubicBezTo>
                  <a:pt x="180730" y="79573"/>
                  <a:pt x="187231" y="89529"/>
                  <a:pt x="187231" y="101045"/>
                </a:cubicBezTo>
                <a:cubicBezTo>
                  <a:pt x="187231" y="110778"/>
                  <a:pt x="182550" y="119397"/>
                  <a:pt x="175343" y="124821"/>
                </a:cubicBezTo>
                <a:cubicBezTo>
                  <a:pt x="179058" y="129799"/>
                  <a:pt x="181287" y="135965"/>
                  <a:pt x="181287" y="142652"/>
                </a:cubicBezTo>
                <a:cubicBezTo>
                  <a:pt x="181287" y="159072"/>
                  <a:pt x="167988" y="172371"/>
                  <a:pt x="151568" y="172371"/>
                </a:cubicBezTo>
                <a:cubicBezTo>
                  <a:pt x="151308" y="172371"/>
                  <a:pt x="151085" y="172371"/>
                  <a:pt x="150825" y="172371"/>
                </a:cubicBezTo>
                <a:cubicBezTo>
                  <a:pt x="148187" y="182624"/>
                  <a:pt x="138863" y="190203"/>
                  <a:pt x="127793" y="190203"/>
                </a:cubicBezTo>
                <a:lnTo>
                  <a:pt x="115905" y="190203"/>
                </a:lnTo>
                <a:cubicBezTo>
                  <a:pt x="109329" y="190203"/>
                  <a:pt x="104017" y="184891"/>
                  <a:pt x="104017" y="178315"/>
                </a:cubicBezTo>
                <a:lnTo>
                  <a:pt x="104017" y="11888"/>
                </a:lnTo>
                <a:cubicBezTo>
                  <a:pt x="104017" y="5312"/>
                  <a:pt x="109329" y="0"/>
                  <a:pt x="115905" y="0"/>
                </a:cubicBezTo>
                <a:lnTo>
                  <a:pt x="124821" y="0"/>
                </a:lnTo>
                <a:cubicBezTo>
                  <a:pt x="136300" y="0"/>
                  <a:pt x="145624" y="9324"/>
                  <a:pt x="145624" y="20803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50" name="Text 48"/>
          <p:cNvSpPr/>
          <p:nvPr/>
        </p:nvSpPr>
        <p:spPr>
          <a:xfrm>
            <a:off x="6695139" y="5772655"/>
            <a:ext cx="1369460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Forgetting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43264" y="6115020"/>
            <a:ext cx="5354209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3D3A3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Time-bound states auto-transition to resolved if not reconfirmed. Apple Health trends decay over time to prevent outdated assumptions.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1135063" cy="254000"/>
          </a:xfrm>
          <a:custGeom>
            <a:avLst/>
            <a:gdLst/>
            <a:ahLst/>
            <a:cxnLst/>
            <a:rect l="l" t="t" r="r" b="b"/>
            <a:pathLst>
              <a:path w="1135063" h="254000">
                <a:moveTo>
                  <a:pt x="127000" y="0"/>
                </a:moveTo>
                <a:lnTo>
                  <a:pt x="1008063" y="0"/>
                </a:lnTo>
                <a:cubicBezTo>
                  <a:pt x="1078156" y="0"/>
                  <a:pt x="1135063" y="56907"/>
                  <a:pt x="1135063" y="127000"/>
                </a:cubicBezTo>
                <a:lnTo>
                  <a:pt x="1135063" y="127000"/>
                </a:lnTo>
                <a:cubicBezTo>
                  <a:pt x="1135063" y="197093"/>
                  <a:pt x="1078156" y="254000"/>
                  <a:pt x="100806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A6B5C">
              <a:alpha val="10196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6719" y="317500"/>
            <a:ext cx="936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A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35000"/>
            <a:ext cx="1169987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3A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Medical Document &amp; Imaging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1023938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understanding for better health insights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373188"/>
            <a:ext cx="5699125" cy="1905000"/>
          </a:xfrm>
          <a:custGeom>
            <a:avLst/>
            <a:gdLst/>
            <a:ahLst/>
            <a:cxnLst/>
            <a:rect l="l" t="t" r="r" b="b"/>
            <a:pathLst>
              <a:path w="5699125" h="1905000">
                <a:moveTo>
                  <a:pt x="952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1809750"/>
                </a:lnTo>
                <a:cubicBezTo>
                  <a:pt x="5699125" y="1862320"/>
                  <a:pt x="5656445" y="1905000"/>
                  <a:pt x="5603875" y="1905000"/>
                </a:cubicBezTo>
                <a:lnTo>
                  <a:pt x="95250" y="1905000"/>
                </a:lnTo>
                <a:cubicBezTo>
                  <a:pt x="42680" y="1905000"/>
                  <a:pt x="0" y="1862320"/>
                  <a:pt x="0" y="1809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5938" y="15636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49609" y="86816"/>
                </a:moveTo>
                <a:lnTo>
                  <a:pt x="49609" y="99219"/>
                </a:lnTo>
                <a:lnTo>
                  <a:pt x="37207" y="99219"/>
                </a:lnTo>
                <a:cubicBezTo>
                  <a:pt x="34479" y="99219"/>
                  <a:pt x="32246" y="101451"/>
                  <a:pt x="32246" y="104180"/>
                </a:cubicBezTo>
                <a:lnTo>
                  <a:pt x="32246" y="114102"/>
                </a:lnTo>
                <a:cubicBezTo>
                  <a:pt x="32246" y="116830"/>
                  <a:pt x="34479" y="119062"/>
                  <a:pt x="37207" y="119062"/>
                </a:cubicBezTo>
                <a:lnTo>
                  <a:pt x="49609" y="119062"/>
                </a:lnTo>
                <a:lnTo>
                  <a:pt x="49609" y="131465"/>
                </a:lnTo>
                <a:cubicBezTo>
                  <a:pt x="49609" y="134193"/>
                  <a:pt x="51842" y="136426"/>
                  <a:pt x="54570" y="136426"/>
                </a:cubicBezTo>
                <a:lnTo>
                  <a:pt x="64492" y="136426"/>
                </a:lnTo>
                <a:cubicBezTo>
                  <a:pt x="67221" y="136426"/>
                  <a:pt x="69453" y="134193"/>
                  <a:pt x="69453" y="131465"/>
                </a:cubicBezTo>
                <a:lnTo>
                  <a:pt x="69453" y="119062"/>
                </a:lnTo>
                <a:lnTo>
                  <a:pt x="81855" y="119062"/>
                </a:lnTo>
                <a:cubicBezTo>
                  <a:pt x="84584" y="119062"/>
                  <a:pt x="86816" y="116830"/>
                  <a:pt x="86816" y="114102"/>
                </a:cubicBezTo>
                <a:lnTo>
                  <a:pt x="86816" y="104180"/>
                </a:lnTo>
                <a:cubicBezTo>
                  <a:pt x="86816" y="101451"/>
                  <a:pt x="84584" y="99219"/>
                  <a:pt x="81855" y="99219"/>
                </a:cubicBezTo>
                <a:lnTo>
                  <a:pt x="69453" y="99219"/>
                </a:lnTo>
                <a:lnTo>
                  <a:pt x="69453" y="86816"/>
                </a:lnTo>
                <a:cubicBezTo>
                  <a:pt x="69453" y="84088"/>
                  <a:pt x="67221" y="81855"/>
                  <a:pt x="64492" y="81855"/>
                </a:cubicBezTo>
                <a:lnTo>
                  <a:pt x="54570" y="81855"/>
                </a:lnTo>
                <a:cubicBezTo>
                  <a:pt x="51842" y="81855"/>
                  <a:pt x="49609" y="84088"/>
                  <a:pt x="49609" y="86816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8" name="Text 6"/>
          <p:cNvSpPr/>
          <p:nvPr/>
        </p:nvSpPr>
        <p:spPr>
          <a:xfrm>
            <a:off x="674688" y="1531938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Document Types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188118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A6B5C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6617" y="196850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26789" y="0"/>
                </a:moveTo>
                <a:cubicBezTo>
                  <a:pt x="16939" y="0"/>
                  <a:pt x="8930" y="8009"/>
                  <a:pt x="8930" y="17859"/>
                </a:cubicBezTo>
                <a:lnTo>
                  <a:pt x="8930" y="125016"/>
                </a:lnTo>
                <a:cubicBezTo>
                  <a:pt x="8930" y="134866"/>
                  <a:pt x="16939" y="142875"/>
                  <a:pt x="26789" y="142875"/>
                </a:cubicBezTo>
                <a:lnTo>
                  <a:pt x="49113" y="142875"/>
                </a:lnTo>
                <a:lnTo>
                  <a:pt x="49113" y="111621"/>
                </a:lnTo>
                <a:cubicBezTo>
                  <a:pt x="49113" y="101771"/>
                  <a:pt x="57122" y="93762"/>
                  <a:pt x="66973" y="93762"/>
                </a:cubicBezTo>
                <a:lnTo>
                  <a:pt x="116086" y="93762"/>
                </a:lnTo>
                <a:lnTo>
                  <a:pt x="116086" y="47578"/>
                </a:lnTo>
                <a:cubicBezTo>
                  <a:pt x="116086" y="42835"/>
                  <a:pt x="114216" y="38286"/>
                  <a:pt x="110868" y="34937"/>
                </a:cubicBezTo>
                <a:lnTo>
                  <a:pt x="81121" y="5218"/>
                </a:lnTo>
                <a:cubicBezTo>
                  <a:pt x="77772" y="1870"/>
                  <a:pt x="73251" y="0"/>
                  <a:pt x="68507" y="0"/>
                </a:cubicBezTo>
                <a:lnTo>
                  <a:pt x="26789" y="0"/>
                </a:lnTo>
                <a:close/>
                <a:moveTo>
                  <a:pt x="99761" y="49113"/>
                </a:moveTo>
                <a:lnTo>
                  <a:pt x="73670" y="49113"/>
                </a:lnTo>
                <a:cubicBezTo>
                  <a:pt x="69959" y="49113"/>
                  <a:pt x="66973" y="46127"/>
                  <a:pt x="66973" y="42416"/>
                </a:cubicBezTo>
                <a:lnTo>
                  <a:pt x="66973" y="16325"/>
                </a:lnTo>
                <a:lnTo>
                  <a:pt x="99761" y="49113"/>
                </a:lnTo>
                <a:close/>
                <a:moveTo>
                  <a:pt x="66973" y="106040"/>
                </a:moveTo>
                <a:cubicBezTo>
                  <a:pt x="63903" y="106040"/>
                  <a:pt x="61392" y="108552"/>
                  <a:pt x="61392" y="111621"/>
                </a:cubicBezTo>
                <a:lnTo>
                  <a:pt x="61392" y="147340"/>
                </a:lnTo>
                <a:cubicBezTo>
                  <a:pt x="61392" y="150409"/>
                  <a:pt x="63903" y="152921"/>
                  <a:pt x="66973" y="152921"/>
                </a:cubicBezTo>
                <a:cubicBezTo>
                  <a:pt x="70042" y="152921"/>
                  <a:pt x="72554" y="150409"/>
                  <a:pt x="72554" y="147340"/>
                </a:cubicBezTo>
                <a:lnTo>
                  <a:pt x="72554" y="139526"/>
                </a:lnTo>
                <a:lnTo>
                  <a:pt x="75902" y="139526"/>
                </a:lnTo>
                <a:cubicBezTo>
                  <a:pt x="85139" y="139526"/>
                  <a:pt x="92646" y="132020"/>
                  <a:pt x="92646" y="122783"/>
                </a:cubicBezTo>
                <a:cubicBezTo>
                  <a:pt x="92646" y="113547"/>
                  <a:pt x="85139" y="106040"/>
                  <a:pt x="75902" y="106040"/>
                </a:cubicBezTo>
                <a:lnTo>
                  <a:pt x="66973" y="106040"/>
                </a:lnTo>
                <a:close/>
                <a:moveTo>
                  <a:pt x="75902" y="128364"/>
                </a:moveTo>
                <a:lnTo>
                  <a:pt x="72554" y="128364"/>
                </a:lnTo>
                <a:lnTo>
                  <a:pt x="72554" y="117202"/>
                </a:lnTo>
                <a:lnTo>
                  <a:pt x="75902" y="117202"/>
                </a:lnTo>
                <a:cubicBezTo>
                  <a:pt x="78972" y="117202"/>
                  <a:pt x="81483" y="119714"/>
                  <a:pt x="81483" y="122783"/>
                </a:cubicBezTo>
                <a:cubicBezTo>
                  <a:pt x="81483" y="125853"/>
                  <a:pt x="78972" y="128364"/>
                  <a:pt x="75902" y="128364"/>
                </a:cubicBezTo>
                <a:close/>
                <a:moveTo>
                  <a:pt x="102691" y="106040"/>
                </a:moveTo>
                <a:cubicBezTo>
                  <a:pt x="99622" y="106040"/>
                  <a:pt x="97110" y="108552"/>
                  <a:pt x="97110" y="111621"/>
                </a:cubicBezTo>
                <a:lnTo>
                  <a:pt x="97110" y="147340"/>
                </a:lnTo>
                <a:cubicBezTo>
                  <a:pt x="97110" y="150409"/>
                  <a:pt x="99622" y="152921"/>
                  <a:pt x="102691" y="152921"/>
                </a:cubicBezTo>
                <a:lnTo>
                  <a:pt x="111621" y="152921"/>
                </a:lnTo>
                <a:cubicBezTo>
                  <a:pt x="119630" y="152921"/>
                  <a:pt x="126132" y="146419"/>
                  <a:pt x="126132" y="138410"/>
                </a:cubicBezTo>
                <a:lnTo>
                  <a:pt x="126132" y="120551"/>
                </a:lnTo>
                <a:cubicBezTo>
                  <a:pt x="126132" y="112542"/>
                  <a:pt x="119630" y="106040"/>
                  <a:pt x="111621" y="106040"/>
                </a:cubicBezTo>
                <a:lnTo>
                  <a:pt x="102691" y="106040"/>
                </a:lnTo>
                <a:close/>
                <a:moveTo>
                  <a:pt x="108272" y="141759"/>
                </a:moveTo>
                <a:lnTo>
                  <a:pt x="108272" y="117202"/>
                </a:lnTo>
                <a:lnTo>
                  <a:pt x="111621" y="117202"/>
                </a:lnTo>
                <a:cubicBezTo>
                  <a:pt x="113463" y="117202"/>
                  <a:pt x="114970" y="118709"/>
                  <a:pt x="114970" y="120551"/>
                </a:cubicBezTo>
                <a:lnTo>
                  <a:pt x="114970" y="138410"/>
                </a:lnTo>
                <a:cubicBezTo>
                  <a:pt x="114970" y="140252"/>
                  <a:pt x="113463" y="141759"/>
                  <a:pt x="111621" y="141759"/>
                </a:cubicBezTo>
                <a:lnTo>
                  <a:pt x="108272" y="141759"/>
                </a:lnTo>
                <a:close/>
                <a:moveTo>
                  <a:pt x="132829" y="111621"/>
                </a:moveTo>
                <a:lnTo>
                  <a:pt x="132829" y="147340"/>
                </a:lnTo>
                <a:cubicBezTo>
                  <a:pt x="132829" y="150409"/>
                  <a:pt x="135341" y="152921"/>
                  <a:pt x="138410" y="152921"/>
                </a:cubicBezTo>
                <a:cubicBezTo>
                  <a:pt x="141480" y="152921"/>
                  <a:pt x="143991" y="150409"/>
                  <a:pt x="143991" y="147340"/>
                </a:cubicBezTo>
                <a:lnTo>
                  <a:pt x="143991" y="135062"/>
                </a:lnTo>
                <a:lnTo>
                  <a:pt x="151805" y="135062"/>
                </a:lnTo>
                <a:cubicBezTo>
                  <a:pt x="154874" y="135062"/>
                  <a:pt x="157386" y="132550"/>
                  <a:pt x="157386" y="129480"/>
                </a:cubicBezTo>
                <a:cubicBezTo>
                  <a:pt x="157386" y="126411"/>
                  <a:pt x="154874" y="123899"/>
                  <a:pt x="151805" y="123899"/>
                </a:cubicBezTo>
                <a:lnTo>
                  <a:pt x="143991" y="123899"/>
                </a:lnTo>
                <a:lnTo>
                  <a:pt x="143991" y="117202"/>
                </a:lnTo>
                <a:lnTo>
                  <a:pt x="151805" y="117202"/>
                </a:lnTo>
                <a:cubicBezTo>
                  <a:pt x="154874" y="117202"/>
                  <a:pt x="157386" y="114691"/>
                  <a:pt x="157386" y="111621"/>
                </a:cubicBezTo>
                <a:cubicBezTo>
                  <a:pt x="157386" y="108552"/>
                  <a:pt x="154874" y="106040"/>
                  <a:pt x="151805" y="106040"/>
                </a:cubicBezTo>
                <a:lnTo>
                  <a:pt x="138410" y="106040"/>
                </a:lnTo>
                <a:cubicBezTo>
                  <a:pt x="135341" y="106040"/>
                  <a:pt x="132829" y="108552"/>
                  <a:pt x="132829" y="111621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11" name="Text 9"/>
          <p:cNvSpPr/>
          <p:nvPr/>
        </p:nvSpPr>
        <p:spPr>
          <a:xfrm>
            <a:off x="889000" y="1881187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 Reports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000" y="2071688"/>
            <a:ext cx="275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PDFs and images of blood work, panels, and test results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6250" y="2325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88C72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5547" y="24130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17859"/>
                </a:moveTo>
                <a:cubicBezTo>
                  <a:pt x="0" y="12920"/>
                  <a:pt x="3990" y="8930"/>
                  <a:pt x="8930" y="8930"/>
                </a:cubicBezTo>
                <a:lnTo>
                  <a:pt x="133945" y="8930"/>
                </a:lnTo>
                <a:cubicBezTo>
                  <a:pt x="138885" y="8930"/>
                  <a:pt x="142875" y="12920"/>
                  <a:pt x="142875" y="17859"/>
                </a:cubicBezTo>
                <a:cubicBezTo>
                  <a:pt x="142875" y="22799"/>
                  <a:pt x="138885" y="26789"/>
                  <a:pt x="133945" y="26789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cubicBezTo>
                  <a:pt x="0" y="120076"/>
                  <a:pt x="3990" y="116086"/>
                  <a:pt x="8930" y="116086"/>
                </a:cubicBezTo>
                <a:lnTo>
                  <a:pt x="8930" y="26789"/>
                </a:lnTo>
                <a:cubicBezTo>
                  <a:pt x="3990" y="26789"/>
                  <a:pt x="0" y="22799"/>
                  <a:pt x="0" y="17859"/>
                </a:cubicBezTo>
                <a:close/>
                <a:moveTo>
                  <a:pt x="78135" y="33486"/>
                </a:move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lnTo>
                  <a:pt x="64740" y="37951"/>
                </a:lnTo>
                <a:lnTo>
                  <a:pt x="46881" y="37951"/>
                </a:lnTo>
                <a:cubicBezTo>
                  <a:pt x="43169" y="37951"/>
                  <a:pt x="40184" y="40937"/>
                  <a:pt x="40184" y="44648"/>
                </a:cubicBezTo>
                <a:cubicBezTo>
                  <a:pt x="40184" y="48360"/>
                  <a:pt x="43169" y="51346"/>
                  <a:pt x="46881" y="51346"/>
                </a:cubicBezTo>
                <a:lnTo>
                  <a:pt x="64740" y="51346"/>
                </a:lnTo>
                <a:lnTo>
                  <a:pt x="64740" y="64740"/>
                </a:lnTo>
                <a:lnTo>
                  <a:pt x="42416" y="64740"/>
                </a:lnTo>
                <a:cubicBezTo>
                  <a:pt x="38705" y="64740"/>
                  <a:pt x="35719" y="67726"/>
                  <a:pt x="35719" y="71438"/>
                </a:cubicBezTo>
                <a:cubicBezTo>
                  <a:pt x="35719" y="75149"/>
                  <a:pt x="38705" y="78135"/>
                  <a:pt x="42416" y="78135"/>
                </a:cubicBezTo>
                <a:lnTo>
                  <a:pt x="64740" y="78135"/>
                </a:lnTo>
                <a:lnTo>
                  <a:pt x="64740" y="91529"/>
                </a:lnTo>
                <a:lnTo>
                  <a:pt x="46881" y="91529"/>
                </a:lnTo>
                <a:cubicBezTo>
                  <a:pt x="43169" y="91529"/>
                  <a:pt x="40184" y="94515"/>
                  <a:pt x="40184" y="98227"/>
                </a:cubicBezTo>
                <a:cubicBezTo>
                  <a:pt x="40184" y="101938"/>
                  <a:pt x="43169" y="104924"/>
                  <a:pt x="46881" y="104924"/>
                </a:cubicBezTo>
                <a:lnTo>
                  <a:pt x="64740" y="104924"/>
                </a:lnTo>
                <a:lnTo>
                  <a:pt x="64740" y="109389"/>
                </a:lnTo>
                <a:cubicBezTo>
                  <a:pt x="64740" y="113100"/>
                  <a:pt x="67726" y="116086"/>
                  <a:pt x="71438" y="116086"/>
                </a:cubicBezTo>
                <a:cubicBezTo>
                  <a:pt x="75149" y="116086"/>
                  <a:pt x="78135" y="113100"/>
                  <a:pt x="78135" y="109389"/>
                </a:cubicBezTo>
                <a:lnTo>
                  <a:pt x="78135" y="104924"/>
                </a:lnTo>
                <a:lnTo>
                  <a:pt x="95994" y="104924"/>
                </a:lnTo>
                <a:cubicBezTo>
                  <a:pt x="99706" y="104924"/>
                  <a:pt x="102691" y="101938"/>
                  <a:pt x="102691" y="98227"/>
                </a:cubicBezTo>
                <a:cubicBezTo>
                  <a:pt x="102691" y="94515"/>
                  <a:pt x="99706" y="91529"/>
                  <a:pt x="95994" y="91529"/>
                </a:cubicBezTo>
                <a:lnTo>
                  <a:pt x="78135" y="91529"/>
                </a:lnTo>
                <a:lnTo>
                  <a:pt x="78135" y="78135"/>
                </a:lnTo>
                <a:lnTo>
                  <a:pt x="100459" y="78135"/>
                </a:lnTo>
                <a:cubicBezTo>
                  <a:pt x="104170" y="78135"/>
                  <a:pt x="107156" y="75149"/>
                  <a:pt x="107156" y="71438"/>
                </a:cubicBezTo>
                <a:cubicBezTo>
                  <a:pt x="107156" y="67726"/>
                  <a:pt x="104170" y="64740"/>
                  <a:pt x="100459" y="64740"/>
                </a:cubicBezTo>
                <a:lnTo>
                  <a:pt x="78135" y="64740"/>
                </a:lnTo>
                <a:lnTo>
                  <a:pt x="78135" y="51346"/>
                </a:lnTo>
                <a:lnTo>
                  <a:pt x="95994" y="51346"/>
                </a:lnTo>
                <a:cubicBezTo>
                  <a:pt x="99706" y="51346"/>
                  <a:pt x="102691" y="48360"/>
                  <a:pt x="102691" y="44648"/>
                </a:cubicBezTo>
                <a:cubicBezTo>
                  <a:pt x="102691" y="40937"/>
                  <a:pt x="99706" y="37951"/>
                  <a:pt x="95994" y="37951"/>
                </a:cubicBezTo>
                <a:lnTo>
                  <a:pt x="78135" y="37951"/>
                </a:lnTo>
                <a:lnTo>
                  <a:pt x="78135" y="33486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" y="2325688"/>
            <a:ext cx="227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Imaging Reports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9000" y="2516188"/>
            <a:ext cx="226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X-rays, MRIs, CT scans, and radiology reports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6250" y="2770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5C1B9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74477" y="28575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35719" y="31254"/>
                </a:moveTo>
                <a:cubicBezTo>
                  <a:pt x="43111" y="31254"/>
                  <a:pt x="49113" y="37256"/>
                  <a:pt x="49113" y="44648"/>
                </a:cubicBezTo>
                <a:cubicBezTo>
                  <a:pt x="49113" y="52041"/>
                  <a:pt x="43111" y="58043"/>
                  <a:pt x="35719" y="58043"/>
                </a:cubicBezTo>
                <a:cubicBezTo>
                  <a:pt x="28326" y="58043"/>
                  <a:pt x="22324" y="52041"/>
                  <a:pt x="22324" y="44648"/>
                </a:cubicBezTo>
                <a:cubicBezTo>
                  <a:pt x="22324" y="37256"/>
                  <a:pt x="28326" y="31254"/>
                  <a:pt x="35719" y="31254"/>
                </a:cubicBezTo>
                <a:close/>
                <a:moveTo>
                  <a:pt x="75902" y="62508"/>
                </a:moveTo>
                <a:cubicBezTo>
                  <a:pt x="78246" y="62508"/>
                  <a:pt x="80395" y="63736"/>
                  <a:pt x="81623" y="65717"/>
                </a:cubicBezTo>
                <a:lnTo>
                  <a:pt x="106180" y="105901"/>
                </a:lnTo>
                <a:cubicBezTo>
                  <a:pt x="107435" y="107966"/>
                  <a:pt x="107491" y="110561"/>
                  <a:pt x="106319" y="112681"/>
                </a:cubicBezTo>
                <a:cubicBezTo>
                  <a:pt x="105147" y="114802"/>
                  <a:pt x="102887" y="116086"/>
                  <a:pt x="100459" y="116086"/>
                </a:cubicBezTo>
                <a:lnTo>
                  <a:pt x="24557" y="116086"/>
                </a:lnTo>
                <a:cubicBezTo>
                  <a:pt x="22073" y="116086"/>
                  <a:pt x="19757" y="114691"/>
                  <a:pt x="18613" y="112486"/>
                </a:cubicBezTo>
                <a:cubicBezTo>
                  <a:pt x="17469" y="110282"/>
                  <a:pt x="17636" y="107603"/>
                  <a:pt x="19059" y="105566"/>
                </a:cubicBezTo>
                <a:lnTo>
                  <a:pt x="34686" y="83241"/>
                </a:lnTo>
                <a:cubicBezTo>
                  <a:pt x="35942" y="81455"/>
                  <a:pt x="37979" y="80395"/>
                  <a:pt x="40184" y="80395"/>
                </a:cubicBezTo>
                <a:cubicBezTo>
                  <a:pt x="42388" y="80395"/>
                  <a:pt x="44425" y="81455"/>
                  <a:pt x="45681" y="83241"/>
                </a:cubicBezTo>
                <a:lnTo>
                  <a:pt x="53048" y="93790"/>
                </a:lnTo>
                <a:lnTo>
                  <a:pt x="70182" y="65745"/>
                </a:lnTo>
                <a:cubicBezTo>
                  <a:pt x="71410" y="63764"/>
                  <a:pt x="73558" y="62536"/>
                  <a:pt x="75902" y="62536"/>
                </a:cubicBezTo>
                <a:close/>
              </a:path>
            </a:pathLst>
          </a:custGeom>
          <a:solidFill>
            <a:srgbClr val="C5C1B9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2770188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Image Uploads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9000" y="2960688"/>
            <a:ext cx="2563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Photos of documents, test strips, or medical images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17500" y="3405188"/>
            <a:ext cx="5699125" cy="2534210"/>
          </a:xfrm>
          <a:custGeom>
            <a:avLst/>
            <a:gdLst/>
            <a:ahLst/>
            <a:cxnLst/>
            <a:rect l="l" t="t" r="r" b="b"/>
            <a:pathLst>
              <a:path w="5699125" h="2534210">
                <a:moveTo>
                  <a:pt x="95232" y="0"/>
                </a:moveTo>
                <a:lnTo>
                  <a:pt x="5603893" y="0"/>
                </a:lnTo>
                <a:cubicBezTo>
                  <a:pt x="5656488" y="0"/>
                  <a:pt x="5699125" y="13372"/>
                  <a:pt x="5699125" y="29867"/>
                </a:cubicBezTo>
                <a:lnTo>
                  <a:pt x="5699125" y="2504343"/>
                </a:lnTo>
                <a:cubicBezTo>
                  <a:pt x="5699125" y="2520838"/>
                  <a:pt x="5656488" y="2534210"/>
                  <a:pt x="5603893" y="2534210"/>
                </a:cubicBezTo>
                <a:lnTo>
                  <a:pt x="95232" y="2534210"/>
                </a:lnTo>
                <a:cubicBezTo>
                  <a:pt x="42637" y="2534210"/>
                  <a:pt x="0" y="2520838"/>
                  <a:pt x="0" y="2504343"/>
                </a:cubicBezTo>
                <a:lnTo>
                  <a:pt x="0" y="29867"/>
                </a:lnTo>
                <a:cubicBezTo>
                  <a:pt x="0" y="13372"/>
                  <a:pt x="42637" y="0"/>
                  <a:pt x="95232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22" name="Shape 20"/>
          <p:cNvSpPr/>
          <p:nvPr/>
        </p:nvSpPr>
        <p:spPr>
          <a:xfrm>
            <a:off x="496094" y="3595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3" name="Text 21"/>
          <p:cNvSpPr/>
          <p:nvPr/>
        </p:nvSpPr>
        <p:spPr>
          <a:xfrm>
            <a:off x="674688" y="3563938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Capabilities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6250" y="3913188"/>
            <a:ext cx="2643188" cy="801688"/>
          </a:xfrm>
          <a:custGeom>
            <a:avLst/>
            <a:gdLst/>
            <a:ahLst/>
            <a:cxnLst/>
            <a:rect l="l" t="t" r="r" b="b"/>
            <a:pathLst>
              <a:path w="2643188" h="801688">
                <a:moveTo>
                  <a:pt x="63502" y="0"/>
                </a:moveTo>
                <a:lnTo>
                  <a:pt x="2579686" y="0"/>
                </a:lnTo>
                <a:cubicBezTo>
                  <a:pt x="2614757" y="0"/>
                  <a:pt x="2643188" y="28431"/>
                  <a:pt x="2643188" y="63502"/>
                </a:cubicBezTo>
                <a:lnTo>
                  <a:pt x="2643188" y="738186"/>
                </a:lnTo>
                <a:cubicBezTo>
                  <a:pt x="2643188" y="773257"/>
                  <a:pt x="2614757" y="801688"/>
                  <a:pt x="2579686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91344" y="402828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6086" y="58043"/>
                </a:moveTo>
                <a:cubicBezTo>
                  <a:pt x="116086" y="70851"/>
                  <a:pt x="111928" y="82683"/>
                  <a:pt x="104924" y="92283"/>
                </a:cubicBezTo>
                <a:lnTo>
                  <a:pt x="140252" y="127639"/>
                </a:lnTo>
                <a:cubicBezTo>
                  <a:pt x="143740" y="131127"/>
                  <a:pt x="143740" y="136792"/>
                  <a:pt x="140252" y="140280"/>
                </a:cubicBezTo>
                <a:cubicBezTo>
                  <a:pt x="136764" y="143768"/>
                  <a:pt x="131099" y="143768"/>
                  <a:pt x="127611" y="140280"/>
                </a:cubicBezTo>
                <a:lnTo>
                  <a:pt x="92283" y="104924"/>
                </a:lnTo>
                <a:cubicBezTo>
                  <a:pt x="82683" y="111928"/>
                  <a:pt x="70851" y="116086"/>
                  <a:pt x="58043" y="116086"/>
                </a:cubicBezTo>
                <a:cubicBezTo>
                  <a:pt x="25980" y="116086"/>
                  <a:pt x="0" y="90106"/>
                  <a:pt x="0" y="58043"/>
                </a:cubicBezTo>
                <a:cubicBezTo>
                  <a:pt x="0" y="25980"/>
                  <a:pt x="25980" y="0"/>
                  <a:pt x="58043" y="0"/>
                </a:cubicBezTo>
                <a:cubicBezTo>
                  <a:pt x="90106" y="0"/>
                  <a:pt x="116086" y="25980"/>
                  <a:pt x="116086" y="58043"/>
                </a:cubicBezTo>
                <a:close/>
                <a:moveTo>
                  <a:pt x="58043" y="98227"/>
                </a:moveTo>
                <a:cubicBezTo>
                  <a:pt x="80221" y="98227"/>
                  <a:pt x="98227" y="80221"/>
                  <a:pt x="98227" y="58043"/>
                </a:cubicBezTo>
                <a:cubicBezTo>
                  <a:pt x="98227" y="35865"/>
                  <a:pt x="80221" y="17859"/>
                  <a:pt x="58043" y="17859"/>
                </a:cubicBezTo>
                <a:cubicBezTo>
                  <a:pt x="35865" y="17859"/>
                  <a:pt x="17859" y="35865"/>
                  <a:pt x="17859" y="58043"/>
                </a:cubicBezTo>
                <a:cubicBezTo>
                  <a:pt x="17859" y="80221"/>
                  <a:pt x="35865" y="98227"/>
                  <a:pt x="58043" y="98227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" y="4234656"/>
            <a:ext cx="251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Key Values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4456906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critical findings and measurements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14688" y="3913188"/>
            <a:ext cx="2643188" cy="801688"/>
          </a:xfrm>
          <a:custGeom>
            <a:avLst/>
            <a:gdLst/>
            <a:ahLst/>
            <a:cxnLst/>
            <a:rect l="l" t="t" r="r" b="b"/>
            <a:pathLst>
              <a:path w="2643188" h="801688">
                <a:moveTo>
                  <a:pt x="63502" y="0"/>
                </a:moveTo>
                <a:lnTo>
                  <a:pt x="2579686" y="0"/>
                </a:lnTo>
                <a:cubicBezTo>
                  <a:pt x="2614757" y="0"/>
                  <a:pt x="2643188" y="28431"/>
                  <a:pt x="2643188" y="63502"/>
                </a:cubicBezTo>
                <a:lnTo>
                  <a:pt x="2643188" y="738186"/>
                </a:lnTo>
                <a:cubicBezTo>
                  <a:pt x="2643188" y="773257"/>
                  <a:pt x="2614757" y="801688"/>
                  <a:pt x="2579686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320852" y="4028281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44648" y="0"/>
                </a:moveTo>
                <a:cubicBezTo>
                  <a:pt x="49588" y="0"/>
                  <a:pt x="53578" y="3990"/>
                  <a:pt x="53578" y="8930"/>
                </a:cubicBezTo>
                <a:lnTo>
                  <a:pt x="53578" y="17859"/>
                </a:lnTo>
                <a:lnTo>
                  <a:pt x="89297" y="17859"/>
                </a:lnTo>
                <a:cubicBezTo>
                  <a:pt x="94236" y="17859"/>
                  <a:pt x="98227" y="21850"/>
                  <a:pt x="98227" y="26789"/>
                </a:cubicBezTo>
                <a:cubicBezTo>
                  <a:pt x="98227" y="31728"/>
                  <a:pt x="94236" y="35719"/>
                  <a:pt x="89297" y="35719"/>
                </a:cubicBezTo>
                <a:lnTo>
                  <a:pt x="86618" y="35719"/>
                </a:lnTo>
                <a:lnTo>
                  <a:pt x="84274" y="42165"/>
                </a:lnTo>
                <a:cubicBezTo>
                  <a:pt x="79697" y="54778"/>
                  <a:pt x="72805" y="66303"/>
                  <a:pt x="64126" y="76209"/>
                </a:cubicBezTo>
                <a:cubicBezTo>
                  <a:pt x="68089" y="78665"/>
                  <a:pt x="72219" y="80842"/>
                  <a:pt x="76516" y="82767"/>
                </a:cubicBezTo>
                <a:lnTo>
                  <a:pt x="90581" y="89018"/>
                </a:lnTo>
                <a:lnTo>
                  <a:pt x="107938" y="49950"/>
                </a:lnTo>
                <a:cubicBezTo>
                  <a:pt x="109361" y="46713"/>
                  <a:pt x="112570" y="44648"/>
                  <a:pt x="116086" y="44648"/>
                </a:cubicBezTo>
                <a:cubicBezTo>
                  <a:pt x="119602" y="44648"/>
                  <a:pt x="122811" y="46713"/>
                  <a:pt x="124234" y="49950"/>
                </a:cubicBezTo>
                <a:lnTo>
                  <a:pt x="159953" y="130318"/>
                </a:lnTo>
                <a:cubicBezTo>
                  <a:pt x="161962" y="134838"/>
                  <a:pt x="159925" y="140112"/>
                  <a:pt x="155432" y="142094"/>
                </a:cubicBezTo>
                <a:cubicBezTo>
                  <a:pt x="150940" y="144075"/>
                  <a:pt x="145638" y="142066"/>
                  <a:pt x="143656" y="137573"/>
                </a:cubicBezTo>
                <a:lnTo>
                  <a:pt x="138075" y="125016"/>
                </a:lnTo>
                <a:lnTo>
                  <a:pt x="94124" y="125016"/>
                </a:lnTo>
                <a:lnTo>
                  <a:pt x="88543" y="137573"/>
                </a:lnTo>
                <a:cubicBezTo>
                  <a:pt x="86534" y="142094"/>
                  <a:pt x="81260" y="144103"/>
                  <a:pt x="76767" y="142094"/>
                </a:cubicBezTo>
                <a:cubicBezTo>
                  <a:pt x="72275" y="140084"/>
                  <a:pt x="70238" y="134810"/>
                  <a:pt x="72247" y="130318"/>
                </a:cubicBezTo>
                <a:lnTo>
                  <a:pt x="83353" y="105342"/>
                </a:lnTo>
                <a:lnTo>
                  <a:pt x="69289" y="99092"/>
                </a:lnTo>
                <a:cubicBezTo>
                  <a:pt x="62871" y="96245"/>
                  <a:pt x="56731" y="92841"/>
                  <a:pt x="50927" y="88934"/>
                </a:cubicBezTo>
                <a:cubicBezTo>
                  <a:pt x="44983" y="93734"/>
                  <a:pt x="38481" y="97920"/>
                  <a:pt x="31533" y="101408"/>
                </a:cubicBezTo>
                <a:lnTo>
                  <a:pt x="21850" y="106207"/>
                </a:lnTo>
                <a:cubicBezTo>
                  <a:pt x="17441" y="108412"/>
                  <a:pt x="12083" y="106626"/>
                  <a:pt x="9878" y="102217"/>
                </a:cubicBezTo>
                <a:cubicBezTo>
                  <a:pt x="7674" y="97808"/>
                  <a:pt x="9460" y="92450"/>
                  <a:pt x="13869" y="90246"/>
                </a:cubicBezTo>
                <a:lnTo>
                  <a:pt x="23496" y="85418"/>
                </a:lnTo>
                <a:cubicBezTo>
                  <a:pt x="28045" y="83130"/>
                  <a:pt x="32370" y="80479"/>
                  <a:pt x="36444" y="77521"/>
                </a:cubicBezTo>
                <a:cubicBezTo>
                  <a:pt x="32593" y="73977"/>
                  <a:pt x="28966" y="70154"/>
                  <a:pt x="25589" y="66108"/>
                </a:cubicBezTo>
                <a:lnTo>
                  <a:pt x="22771" y="62703"/>
                </a:lnTo>
                <a:cubicBezTo>
                  <a:pt x="19617" y="58908"/>
                  <a:pt x="20120" y="53271"/>
                  <a:pt x="23915" y="50118"/>
                </a:cubicBezTo>
                <a:cubicBezTo>
                  <a:pt x="27710" y="46965"/>
                  <a:pt x="33347" y="47467"/>
                  <a:pt x="36500" y="51262"/>
                </a:cubicBezTo>
                <a:lnTo>
                  <a:pt x="39346" y="54666"/>
                </a:lnTo>
                <a:cubicBezTo>
                  <a:pt x="42556" y="58545"/>
                  <a:pt x="46072" y="62145"/>
                  <a:pt x="49783" y="65466"/>
                </a:cubicBezTo>
                <a:cubicBezTo>
                  <a:pt x="57457" y="56983"/>
                  <a:pt x="63512" y="47020"/>
                  <a:pt x="67503" y="36054"/>
                </a:cubicBezTo>
                <a:lnTo>
                  <a:pt x="67642" y="35719"/>
                </a:lnTo>
                <a:lnTo>
                  <a:pt x="8958" y="35719"/>
                </a:lnTo>
                <a:cubicBezTo>
                  <a:pt x="3990" y="35719"/>
                  <a:pt x="0" y="31728"/>
                  <a:pt x="0" y="26789"/>
                </a:cubicBezTo>
                <a:cubicBezTo>
                  <a:pt x="0" y="21850"/>
                  <a:pt x="3990" y="17859"/>
                  <a:pt x="8930" y="17859"/>
                </a:cubicBezTo>
                <a:lnTo>
                  <a:pt x="35719" y="17859"/>
                </a:lnTo>
                <a:lnTo>
                  <a:pt x="35719" y="8930"/>
                </a:lnTo>
                <a:cubicBezTo>
                  <a:pt x="35719" y="3990"/>
                  <a:pt x="39709" y="0"/>
                  <a:pt x="44648" y="0"/>
                </a:cubicBezTo>
                <a:close/>
                <a:moveTo>
                  <a:pt x="116086" y="75567"/>
                </a:moveTo>
                <a:lnTo>
                  <a:pt x="102050" y="107156"/>
                </a:lnTo>
                <a:lnTo>
                  <a:pt x="130122" y="107156"/>
                </a:lnTo>
                <a:lnTo>
                  <a:pt x="116086" y="75567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30" name="Text 28"/>
          <p:cNvSpPr/>
          <p:nvPr/>
        </p:nvSpPr>
        <p:spPr>
          <a:xfrm>
            <a:off x="3309938" y="4234656"/>
            <a:ext cx="251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Plain Language Summary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09938" y="4456906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Translate medical jargon to understandable terms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6250" y="4806156"/>
            <a:ext cx="2643188" cy="801688"/>
          </a:xfrm>
          <a:custGeom>
            <a:avLst/>
            <a:gdLst/>
            <a:ahLst/>
            <a:cxnLst/>
            <a:rect l="l" t="t" r="r" b="b"/>
            <a:pathLst>
              <a:path w="2643188" h="801688">
                <a:moveTo>
                  <a:pt x="63502" y="0"/>
                </a:moveTo>
                <a:lnTo>
                  <a:pt x="2579686" y="0"/>
                </a:lnTo>
                <a:cubicBezTo>
                  <a:pt x="2614757" y="0"/>
                  <a:pt x="2643188" y="28431"/>
                  <a:pt x="2643188" y="63502"/>
                </a:cubicBezTo>
                <a:lnTo>
                  <a:pt x="2643188" y="738186"/>
                </a:lnTo>
                <a:cubicBezTo>
                  <a:pt x="2643188" y="773257"/>
                  <a:pt x="2614757" y="801688"/>
                  <a:pt x="2579686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1344" y="4921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71438" y="37951"/>
                </a:moveTo>
                <a:cubicBezTo>
                  <a:pt x="75149" y="37951"/>
                  <a:pt x="78135" y="40937"/>
                  <a:pt x="78135" y="44648"/>
                </a:cubicBezTo>
                <a:lnTo>
                  <a:pt x="78135" y="75902"/>
                </a:lnTo>
                <a:cubicBezTo>
                  <a:pt x="78135" y="79614"/>
                  <a:pt x="75149" y="82600"/>
                  <a:pt x="71438" y="82600"/>
                </a:cubicBezTo>
                <a:cubicBezTo>
                  <a:pt x="67726" y="82600"/>
                  <a:pt x="64740" y="79614"/>
                  <a:pt x="64740" y="75902"/>
                </a:cubicBezTo>
                <a:lnTo>
                  <a:pt x="64740" y="44648"/>
                </a:lnTo>
                <a:cubicBezTo>
                  <a:pt x="64740" y="40937"/>
                  <a:pt x="67726" y="37951"/>
                  <a:pt x="71438" y="37951"/>
                </a:cubicBezTo>
                <a:close/>
                <a:moveTo>
                  <a:pt x="63987" y="98227"/>
                </a:moveTo>
                <a:cubicBezTo>
                  <a:pt x="63817" y="95461"/>
                  <a:pt x="65197" y="92830"/>
                  <a:pt x="67567" y="91396"/>
                </a:cubicBezTo>
                <a:cubicBezTo>
                  <a:pt x="69938" y="89962"/>
                  <a:pt x="72909" y="89962"/>
                  <a:pt x="75280" y="91396"/>
                </a:cubicBezTo>
                <a:cubicBezTo>
                  <a:pt x="77651" y="92830"/>
                  <a:pt x="79030" y="95461"/>
                  <a:pt x="78860" y="98227"/>
                </a:cubicBezTo>
                <a:cubicBezTo>
                  <a:pt x="79030" y="100992"/>
                  <a:pt x="77651" y="103623"/>
                  <a:pt x="75280" y="105057"/>
                </a:cubicBezTo>
                <a:cubicBezTo>
                  <a:pt x="72909" y="106492"/>
                  <a:pt x="69938" y="106492"/>
                  <a:pt x="67567" y="105057"/>
                </a:cubicBezTo>
                <a:cubicBezTo>
                  <a:pt x="65197" y="103623"/>
                  <a:pt x="63817" y="100992"/>
                  <a:pt x="63987" y="98227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" y="5127625"/>
            <a:ext cx="251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Flag Abnormal Markers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1500" y="5349875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Highlight out-of-range values and trends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14688" y="4806156"/>
            <a:ext cx="2643188" cy="801688"/>
          </a:xfrm>
          <a:custGeom>
            <a:avLst/>
            <a:gdLst/>
            <a:ahLst/>
            <a:cxnLst/>
            <a:rect l="l" t="t" r="r" b="b"/>
            <a:pathLst>
              <a:path w="2643188" h="801688">
                <a:moveTo>
                  <a:pt x="63502" y="0"/>
                </a:moveTo>
                <a:lnTo>
                  <a:pt x="2579686" y="0"/>
                </a:lnTo>
                <a:cubicBezTo>
                  <a:pt x="2614757" y="0"/>
                  <a:pt x="2643188" y="28431"/>
                  <a:pt x="2643188" y="63502"/>
                </a:cubicBezTo>
                <a:lnTo>
                  <a:pt x="2643188" y="738186"/>
                </a:lnTo>
                <a:cubicBezTo>
                  <a:pt x="2643188" y="773257"/>
                  <a:pt x="2614757" y="801688"/>
                  <a:pt x="2579686" y="801688"/>
                </a:cubicBezTo>
                <a:lnTo>
                  <a:pt x="63502" y="801688"/>
                </a:lnTo>
                <a:cubicBezTo>
                  <a:pt x="28431" y="801688"/>
                  <a:pt x="0" y="773257"/>
                  <a:pt x="0" y="73818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329781" y="4921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71438" y="49113"/>
                </a:moveTo>
                <a:cubicBezTo>
                  <a:pt x="66498" y="49113"/>
                  <a:pt x="62508" y="53104"/>
                  <a:pt x="62508" y="58043"/>
                </a:cubicBezTo>
                <a:cubicBezTo>
                  <a:pt x="62508" y="61754"/>
                  <a:pt x="59522" y="64740"/>
                  <a:pt x="55811" y="64740"/>
                </a:cubicBezTo>
                <a:cubicBezTo>
                  <a:pt x="52099" y="64740"/>
                  <a:pt x="49113" y="61754"/>
                  <a:pt x="49113" y="58043"/>
                </a:cubicBezTo>
                <a:cubicBezTo>
                  <a:pt x="49113" y="45709"/>
                  <a:pt x="59103" y="35719"/>
                  <a:pt x="71438" y="35719"/>
                </a:cubicBezTo>
                <a:cubicBezTo>
                  <a:pt x="83772" y="35719"/>
                  <a:pt x="93762" y="45709"/>
                  <a:pt x="93762" y="58043"/>
                </a:cubicBezTo>
                <a:cubicBezTo>
                  <a:pt x="93762" y="71214"/>
                  <a:pt x="83716" y="76795"/>
                  <a:pt x="78135" y="78832"/>
                </a:cubicBezTo>
                <a:lnTo>
                  <a:pt x="78135" y="79893"/>
                </a:lnTo>
                <a:cubicBezTo>
                  <a:pt x="78135" y="83604"/>
                  <a:pt x="75149" y="86590"/>
                  <a:pt x="71438" y="86590"/>
                </a:cubicBezTo>
                <a:cubicBezTo>
                  <a:pt x="67726" y="86590"/>
                  <a:pt x="64740" y="83604"/>
                  <a:pt x="64740" y="79893"/>
                </a:cubicBezTo>
                <a:lnTo>
                  <a:pt x="64740" y="77632"/>
                </a:lnTo>
                <a:cubicBezTo>
                  <a:pt x="64740" y="71912"/>
                  <a:pt x="68870" y="67810"/>
                  <a:pt x="73140" y="66415"/>
                </a:cubicBezTo>
                <a:cubicBezTo>
                  <a:pt x="74926" y="65829"/>
                  <a:pt x="76823" y="64880"/>
                  <a:pt x="78218" y="63540"/>
                </a:cubicBezTo>
                <a:cubicBezTo>
                  <a:pt x="79418" y="62368"/>
                  <a:pt x="80367" y="60750"/>
                  <a:pt x="80367" y="58071"/>
                </a:cubicBezTo>
                <a:cubicBezTo>
                  <a:pt x="80367" y="53132"/>
                  <a:pt x="76377" y="49141"/>
                  <a:pt x="71438" y="49141"/>
                </a:cubicBezTo>
                <a:close/>
                <a:moveTo>
                  <a:pt x="62508" y="102691"/>
                </a:moveTo>
                <a:cubicBezTo>
                  <a:pt x="62508" y="97763"/>
                  <a:pt x="66509" y="93762"/>
                  <a:pt x="71438" y="93762"/>
                </a:cubicBezTo>
                <a:cubicBezTo>
                  <a:pt x="76366" y="93762"/>
                  <a:pt x="80367" y="97763"/>
                  <a:pt x="80367" y="102691"/>
                </a:cubicBezTo>
                <a:cubicBezTo>
                  <a:pt x="80367" y="107620"/>
                  <a:pt x="76366" y="111621"/>
                  <a:pt x="71438" y="111621"/>
                </a:cubicBezTo>
                <a:cubicBezTo>
                  <a:pt x="66509" y="111621"/>
                  <a:pt x="62508" y="107620"/>
                  <a:pt x="62508" y="102691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38" name="Text 36"/>
          <p:cNvSpPr/>
          <p:nvPr/>
        </p:nvSpPr>
        <p:spPr>
          <a:xfrm>
            <a:off x="3309938" y="5127625"/>
            <a:ext cx="251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Follow-up Questions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309938" y="5349875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Suggest questions for your clinician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8250" y="1980406"/>
            <a:ext cx="5699125" cy="1774031"/>
          </a:xfrm>
          <a:custGeom>
            <a:avLst/>
            <a:gdLst/>
            <a:ahLst/>
            <a:cxnLst/>
            <a:rect l="l" t="t" r="r" b="b"/>
            <a:pathLst>
              <a:path w="5699125" h="1774031">
                <a:moveTo>
                  <a:pt x="95250" y="0"/>
                </a:moveTo>
                <a:lnTo>
                  <a:pt x="5603875" y="0"/>
                </a:lnTo>
                <a:cubicBezTo>
                  <a:pt x="5656480" y="0"/>
                  <a:pt x="5699125" y="50698"/>
                  <a:pt x="5699125" y="113236"/>
                </a:cubicBezTo>
                <a:lnTo>
                  <a:pt x="5699125" y="1660795"/>
                </a:lnTo>
                <a:cubicBezTo>
                  <a:pt x="5699125" y="1723334"/>
                  <a:pt x="5656480" y="1774031"/>
                  <a:pt x="5603875" y="1774031"/>
                </a:cubicBezTo>
                <a:lnTo>
                  <a:pt x="95250" y="1774031"/>
                </a:lnTo>
                <a:cubicBezTo>
                  <a:pt x="42645" y="1774031"/>
                  <a:pt x="0" y="1723334"/>
                  <a:pt x="0" y="1660795"/>
                </a:cubicBezTo>
                <a:lnTo>
                  <a:pt x="0" y="113236"/>
                </a:lnTo>
                <a:cubicBezTo>
                  <a:pt x="0" y="50698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16688" y="2170906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6552" y="9922"/>
                </a:moveTo>
                <a:lnTo>
                  <a:pt x="99219" y="9922"/>
                </a:lnTo>
                <a:cubicBezTo>
                  <a:pt x="110164" y="9922"/>
                  <a:pt x="119062" y="18821"/>
                  <a:pt x="119062" y="2976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22510" y="9922"/>
                </a:lnTo>
                <a:cubicBezTo>
                  <a:pt x="25921" y="4000"/>
                  <a:pt x="32339" y="0"/>
                  <a:pt x="39688" y="0"/>
                </a:cubicBezTo>
                <a:lnTo>
                  <a:pt x="79375" y="0"/>
                </a:lnTo>
                <a:cubicBezTo>
                  <a:pt x="86723" y="0"/>
                  <a:pt x="93142" y="4000"/>
                  <a:pt x="96552" y="9922"/>
                </a:cubicBezTo>
                <a:close/>
                <a:moveTo>
                  <a:pt x="76895" y="34727"/>
                </a:moveTo>
                <a:cubicBezTo>
                  <a:pt x="81018" y="34727"/>
                  <a:pt x="84336" y="31409"/>
                  <a:pt x="84336" y="27285"/>
                </a:cubicBezTo>
                <a:cubicBezTo>
                  <a:pt x="84336" y="23161"/>
                  <a:pt x="81018" y="19844"/>
                  <a:pt x="76895" y="19844"/>
                </a:cubicBezTo>
                <a:lnTo>
                  <a:pt x="42168" y="19844"/>
                </a:lnTo>
                <a:cubicBezTo>
                  <a:pt x="38044" y="19844"/>
                  <a:pt x="34727" y="23161"/>
                  <a:pt x="34727" y="27285"/>
                </a:cubicBezTo>
                <a:cubicBezTo>
                  <a:pt x="34727" y="31409"/>
                  <a:pt x="38044" y="34727"/>
                  <a:pt x="42168" y="34727"/>
                </a:cubicBezTo>
                <a:lnTo>
                  <a:pt x="76895" y="34727"/>
                </a:lnTo>
                <a:close/>
                <a:moveTo>
                  <a:pt x="39688" y="79375"/>
                </a:move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ubicBezTo>
                  <a:pt x="35242" y="89297"/>
                  <a:pt x="39688" y="84851"/>
                  <a:pt x="39688" y="79375"/>
                </a:cubicBezTo>
                <a:close/>
                <a:moveTo>
                  <a:pt x="49609" y="79375"/>
                </a:moveTo>
                <a:cubicBezTo>
                  <a:pt x="49609" y="83499"/>
                  <a:pt x="52927" y="86816"/>
                  <a:pt x="57051" y="86816"/>
                </a:cubicBezTo>
                <a:lnTo>
                  <a:pt x="91777" y="86816"/>
                </a:lnTo>
                <a:cubicBezTo>
                  <a:pt x="95901" y="86816"/>
                  <a:pt x="99219" y="83499"/>
                  <a:pt x="99219" y="79375"/>
                </a:cubicBezTo>
                <a:cubicBezTo>
                  <a:pt x="99219" y="75251"/>
                  <a:pt x="95901" y="71934"/>
                  <a:pt x="91777" y="71934"/>
                </a:cubicBezTo>
                <a:lnTo>
                  <a:pt x="57051" y="71934"/>
                </a:lnTo>
                <a:cubicBezTo>
                  <a:pt x="52927" y="71934"/>
                  <a:pt x="49609" y="75251"/>
                  <a:pt x="49609" y="79375"/>
                </a:cubicBezTo>
                <a:close/>
                <a:moveTo>
                  <a:pt x="49609" y="119062"/>
                </a:moveTo>
                <a:cubicBezTo>
                  <a:pt x="49609" y="123186"/>
                  <a:pt x="52927" y="126504"/>
                  <a:pt x="57051" y="126504"/>
                </a:cubicBezTo>
                <a:lnTo>
                  <a:pt x="91777" y="126504"/>
                </a:lnTo>
                <a:cubicBezTo>
                  <a:pt x="95901" y="126504"/>
                  <a:pt x="99219" y="123186"/>
                  <a:pt x="99219" y="119062"/>
                </a:cubicBezTo>
                <a:cubicBezTo>
                  <a:pt x="99219" y="114939"/>
                  <a:pt x="95901" y="111621"/>
                  <a:pt x="91777" y="111621"/>
                </a:cubicBezTo>
                <a:lnTo>
                  <a:pt x="57051" y="111621"/>
                </a:lnTo>
                <a:cubicBezTo>
                  <a:pt x="52927" y="111621"/>
                  <a:pt x="49609" y="114939"/>
                  <a:pt x="49609" y="119062"/>
                </a:cubicBezTo>
                <a:close/>
                <a:moveTo>
                  <a:pt x="29766" y="128984"/>
                </a:moveTo>
                <a:cubicBezTo>
                  <a:pt x="35242" y="128984"/>
                  <a:pt x="39688" y="124539"/>
                  <a:pt x="39688" y="119062"/>
                </a:cubicBezTo>
                <a:cubicBezTo>
                  <a:pt x="39688" y="113586"/>
                  <a:pt x="35242" y="109141"/>
                  <a:pt x="29766" y="109141"/>
                </a:cubicBezTo>
                <a:cubicBezTo>
                  <a:pt x="24290" y="109141"/>
                  <a:pt x="19844" y="113586"/>
                  <a:pt x="19844" y="119062"/>
                </a:cubicBezTo>
                <a:cubicBezTo>
                  <a:pt x="19844" y="124539"/>
                  <a:pt x="24290" y="128984"/>
                  <a:pt x="29766" y="128984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438" y="2139156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Analysis Output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77000" y="2456656"/>
            <a:ext cx="5381625" cy="1139031"/>
          </a:xfrm>
          <a:custGeom>
            <a:avLst/>
            <a:gdLst/>
            <a:ahLst/>
            <a:cxnLst/>
            <a:rect l="l" t="t" r="r" b="b"/>
            <a:pathLst>
              <a:path w="5381625" h="1139031">
                <a:moveTo>
                  <a:pt x="63497" y="0"/>
                </a:moveTo>
                <a:lnTo>
                  <a:pt x="5318128" y="0"/>
                </a:lnTo>
                <a:cubicBezTo>
                  <a:pt x="5353197" y="0"/>
                  <a:pt x="5381625" y="37773"/>
                  <a:pt x="5381625" y="84368"/>
                </a:cubicBezTo>
                <a:lnTo>
                  <a:pt x="5381625" y="1054663"/>
                </a:lnTo>
                <a:cubicBezTo>
                  <a:pt x="5381625" y="1101258"/>
                  <a:pt x="5353197" y="1139031"/>
                  <a:pt x="5318128" y="1139031"/>
                </a:cubicBezTo>
                <a:lnTo>
                  <a:pt x="63497" y="1139031"/>
                </a:lnTo>
                <a:cubicBezTo>
                  <a:pt x="28428" y="1139031"/>
                  <a:pt x="0" y="1101258"/>
                  <a:pt x="0" y="1054663"/>
                </a:cubicBezTo>
                <a:lnTo>
                  <a:pt x="0" y="84368"/>
                </a:lnTo>
                <a:cubicBezTo>
                  <a:pt x="0" y="37773"/>
                  <a:pt x="28428" y="0"/>
                  <a:pt x="63497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4" name="Shape 42"/>
          <p:cNvSpPr/>
          <p:nvPr/>
        </p:nvSpPr>
        <p:spPr>
          <a:xfrm>
            <a:off x="6619875" y="261540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45" name="Text 43"/>
          <p:cNvSpPr/>
          <p:nvPr/>
        </p:nvSpPr>
        <p:spPr>
          <a:xfrm>
            <a:off x="6806406" y="2583656"/>
            <a:ext cx="336126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"Hemoglobin is </a:t>
            </a:r>
            <a:pPr>
              <a:lnSpc>
                <a:spcPct val="120000"/>
              </a:lnSpc>
            </a:pPr>
            <a:r>
              <a:rPr lang="en-US" sz="12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below reference range</a:t>
            </a:r>
            <a:pPr>
              <a:lnSpc>
                <a:spcPct val="120000"/>
              </a:lnSpc>
            </a:pPr>
            <a:r>
              <a:rPr lang="en-US" sz="120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619875" y="283765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13891"/>
                </a:moveTo>
                <a:cubicBezTo>
                  <a:pt x="13891" y="10049"/>
                  <a:pt x="10787" y="6945"/>
                  <a:pt x="6945" y="6945"/>
                </a:cubicBezTo>
                <a:cubicBezTo>
                  <a:pt x="3104" y="6945"/>
                  <a:pt x="0" y="10049"/>
                  <a:pt x="0" y="13891"/>
                </a:cubicBezTo>
                <a:lnTo>
                  <a:pt x="0" y="86816"/>
                </a:lnTo>
                <a:cubicBezTo>
                  <a:pt x="0" y="96410"/>
                  <a:pt x="7770" y="104180"/>
                  <a:pt x="17363" y="104180"/>
                </a:cubicBezTo>
                <a:lnTo>
                  <a:pt x="104180" y="104180"/>
                </a:lnTo>
                <a:cubicBezTo>
                  <a:pt x="108021" y="104180"/>
                  <a:pt x="111125" y="101076"/>
                  <a:pt x="111125" y="97234"/>
                </a:cubicBezTo>
                <a:cubicBezTo>
                  <a:pt x="111125" y="93393"/>
                  <a:pt x="108021" y="90289"/>
                  <a:pt x="104180" y="90289"/>
                </a:cubicBezTo>
                <a:lnTo>
                  <a:pt x="17363" y="90289"/>
                </a:lnTo>
                <a:cubicBezTo>
                  <a:pt x="15453" y="90289"/>
                  <a:pt x="13891" y="88726"/>
                  <a:pt x="13891" y="86816"/>
                </a:cubicBezTo>
                <a:lnTo>
                  <a:pt x="13891" y="13891"/>
                </a:lnTo>
                <a:close/>
                <a:moveTo>
                  <a:pt x="102140" y="32686"/>
                </a:moveTo>
                <a:cubicBezTo>
                  <a:pt x="104853" y="29973"/>
                  <a:pt x="104853" y="25567"/>
                  <a:pt x="102140" y="22854"/>
                </a:cubicBezTo>
                <a:cubicBezTo>
                  <a:pt x="99426" y="20141"/>
                  <a:pt x="95021" y="20141"/>
                  <a:pt x="92308" y="22854"/>
                </a:cubicBezTo>
                <a:lnTo>
                  <a:pt x="69453" y="45731"/>
                </a:lnTo>
                <a:lnTo>
                  <a:pt x="56995" y="33294"/>
                </a:lnTo>
                <a:cubicBezTo>
                  <a:pt x="54282" y="30581"/>
                  <a:pt x="49876" y="30581"/>
                  <a:pt x="47163" y="33294"/>
                </a:cubicBezTo>
                <a:lnTo>
                  <a:pt x="26327" y="54130"/>
                </a:lnTo>
                <a:cubicBezTo>
                  <a:pt x="23614" y="56843"/>
                  <a:pt x="23614" y="61249"/>
                  <a:pt x="26327" y="63962"/>
                </a:cubicBezTo>
                <a:cubicBezTo>
                  <a:pt x="29040" y="66675"/>
                  <a:pt x="33446" y="66675"/>
                  <a:pt x="36159" y="63962"/>
                </a:cubicBezTo>
                <a:lnTo>
                  <a:pt x="52090" y="48031"/>
                </a:lnTo>
                <a:lnTo>
                  <a:pt x="64548" y="60489"/>
                </a:lnTo>
                <a:cubicBezTo>
                  <a:pt x="67261" y="63202"/>
                  <a:pt x="71667" y="63202"/>
                  <a:pt x="74380" y="60489"/>
                </a:cubicBezTo>
                <a:lnTo>
                  <a:pt x="102161" y="32708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47" name="Text 45"/>
          <p:cNvSpPr/>
          <p:nvPr/>
        </p:nvSpPr>
        <p:spPr>
          <a:xfrm>
            <a:off x="6806406" y="2805906"/>
            <a:ext cx="453848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"Compared with your prior result, this moved </a:t>
            </a:r>
            <a:pPr>
              <a:lnSpc>
                <a:spcPct val="120000"/>
              </a:lnSpc>
            </a:pPr>
            <a:r>
              <a:rPr lang="en-US" sz="12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 by 0.8 g/dL</a:t>
            </a:r>
            <a:pPr>
              <a:lnSpc>
                <a:spcPct val="120000"/>
              </a:lnSpc>
            </a:pPr>
            <a:r>
              <a:rPr lang="en-US" sz="120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35750" y="327818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1736"/>
                </a:move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lose/>
                <a:moveTo>
                  <a:pt x="61640" y="69627"/>
                </a:moveTo>
                <a:cubicBezTo>
                  <a:pt x="60468" y="69518"/>
                  <a:pt x="59252" y="69453"/>
                  <a:pt x="58037" y="69453"/>
                </a:cubicBezTo>
                <a:lnTo>
                  <a:pt x="39176" y="69453"/>
                </a:lnTo>
                <a:cubicBezTo>
                  <a:pt x="37960" y="69453"/>
                  <a:pt x="36767" y="69518"/>
                  <a:pt x="35573" y="69627"/>
                </a:cubicBezTo>
                <a:lnTo>
                  <a:pt x="35573" y="84277"/>
                </a:lnTo>
                <a:cubicBezTo>
                  <a:pt x="39154" y="85927"/>
                  <a:pt x="41650" y="89551"/>
                  <a:pt x="41650" y="93740"/>
                </a:cubicBezTo>
                <a:cubicBezTo>
                  <a:pt x="41650" y="99492"/>
                  <a:pt x="36984" y="104158"/>
                  <a:pt x="31232" y="104158"/>
                </a:cubicBezTo>
                <a:cubicBezTo>
                  <a:pt x="25481" y="104158"/>
                  <a:pt x="20814" y="99492"/>
                  <a:pt x="20814" y="93740"/>
                </a:cubicBezTo>
                <a:cubicBezTo>
                  <a:pt x="20814" y="89529"/>
                  <a:pt x="23310" y="85905"/>
                  <a:pt x="26891" y="84277"/>
                </a:cubicBezTo>
                <a:lnTo>
                  <a:pt x="26891" y="71602"/>
                </a:lnTo>
                <a:cubicBezTo>
                  <a:pt x="13240" y="76615"/>
                  <a:pt x="3473" y="89768"/>
                  <a:pt x="3473" y="105178"/>
                </a:cubicBezTo>
                <a:cubicBezTo>
                  <a:pt x="3473" y="108455"/>
                  <a:pt x="6142" y="111125"/>
                  <a:pt x="9420" y="111125"/>
                </a:cubicBezTo>
                <a:lnTo>
                  <a:pt x="87793" y="111125"/>
                </a:lnTo>
                <a:cubicBezTo>
                  <a:pt x="91070" y="111125"/>
                  <a:pt x="93740" y="108455"/>
                  <a:pt x="93740" y="105178"/>
                </a:cubicBezTo>
                <a:cubicBezTo>
                  <a:pt x="93740" y="89768"/>
                  <a:pt x="83973" y="76637"/>
                  <a:pt x="70300" y="71624"/>
                </a:cubicBezTo>
                <a:lnTo>
                  <a:pt x="70300" y="79741"/>
                </a:lnTo>
                <a:cubicBezTo>
                  <a:pt x="75357" y="81521"/>
                  <a:pt x="78981" y="86361"/>
                  <a:pt x="78981" y="92025"/>
                </a:cubicBezTo>
                <a:lnTo>
                  <a:pt x="78981" y="98971"/>
                </a:lnTo>
                <a:cubicBezTo>
                  <a:pt x="78981" y="101358"/>
                  <a:pt x="77028" y="103312"/>
                  <a:pt x="74640" y="103312"/>
                </a:cubicBezTo>
                <a:cubicBezTo>
                  <a:pt x="72253" y="103312"/>
                  <a:pt x="70300" y="101358"/>
                  <a:pt x="70300" y="98971"/>
                </a:cubicBezTo>
                <a:lnTo>
                  <a:pt x="70300" y="92025"/>
                </a:lnTo>
                <a:cubicBezTo>
                  <a:pt x="70300" y="89638"/>
                  <a:pt x="68346" y="87685"/>
                  <a:pt x="65959" y="87685"/>
                </a:cubicBezTo>
                <a:cubicBezTo>
                  <a:pt x="63571" y="87685"/>
                  <a:pt x="61618" y="89638"/>
                  <a:pt x="61618" y="92025"/>
                </a:cubicBezTo>
                <a:lnTo>
                  <a:pt x="61618" y="98971"/>
                </a:lnTo>
                <a:cubicBezTo>
                  <a:pt x="61618" y="101358"/>
                  <a:pt x="59665" y="103312"/>
                  <a:pt x="57277" y="103312"/>
                </a:cubicBezTo>
                <a:cubicBezTo>
                  <a:pt x="54890" y="103312"/>
                  <a:pt x="52936" y="101358"/>
                  <a:pt x="52936" y="98971"/>
                </a:cubicBezTo>
                <a:lnTo>
                  <a:pt x="52936" y="92025"/>
                </a:lnTo>
                <a:cubicBezTo>
                  <a:pt x="52936" y="86361"/>
                  <a:pt x="56561" y="81542"/>
                  <a:pt x="61618" y="79741"/>
                </a:cubicBezTo>
                <a:lnTo>
                  <a:pt x="61618" y="69627"/>
                </a:ln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49" name="Text 47"/>
          <p:cNvSpPr/>
          <p:nvPr/>
        </p:nvSpPr>
        <p:spPr>
          <a:xfrm>
            <a:off x="6806406" y="3198813"/>
            <a:ext cx="489831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>
              <a:lnSpc>
                <a:spcPct val="120000"/>
              </a:lnSpc>
            </a:pPr>
            <a:r>
              <a:rPr lang="en-US" sz="12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Suggested questions for your doctor:</a:t>
            </a:r>
            <a:pPr>
              <a:lnSpc>
                <a:spcPct val="120000"/>
              </a:lnSpc>
            </a:pPr>
            <a:r>
              <a:rPr lang="en-US" sz="1200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Should I be concerned about this trend?"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4125" y="4028281"/>
            <a:ext cx="5683250" cy="968375"/>
          </a:xfrm>
          <a:custGeom>
            <a:avLst/>
            <a:gdLst/>
            <a:ahLst/>
            <a:cxnLst/>
            <a:rect l="l" t="t" r="r" b="b"/>
            <a:pathLst>
              <a:path w="5683250" h="968375">
                <a:moveTo>
                  <a:pt x="95249" y="0"/>
                </a:moveTo>
                <a:lnTo>
                  <a:pt x="5588001" y="0"/>
                </a:lnTo>
                <a:cubicBezTo>
                  <a:pt x="5640605" y="0"/>
                  <a:pt x="5683250" y="42645"/>
                  <a:pt x="5683250" y="95249"/>
                </a:cubicBezTo>
                <a:lnTo>
                  <a:pt x="5683250" y="873126"/>
                </a:lnTo>
                <a:cubicBezTo>
                  <a:pt x="5683250" y="925730"/>
                  <a:pt x="5640605" y="968375"/>
                  <a:pt x="5588001" y="968375"/>
                </a:cubicBezTo>
                <a:lnTo>
                  <a:pt x="95249" y="968375"/>
                </a:lnTo>
                <a:cubicBezTo>
                  <a:pt x="42645" y="968375"/>
                  <a:pt x="0" y="925730"/>
                  <a:pt x="0" y="873126"/>
                </a:cubicBezTo>
                <a:lnTo>
                  <a:pt x="0" y="95249"/>
                </a:lnTo>
                <a:cubicBezTo>
                  <a:pt x="0" y="42645"/>
                  <a:pt x="42645" y="0"/>
                  <a:pt x="95249" y="0"/>
                </a:cubicBezTo>
                <a:close/>
              </a:path>
            </a:pathLst>
          </a:custGeom>
          <a:solidFill>
            <a:srgbClr val="FEF2F2"/>
          </a:solidFill>
          <a:ln w="25400">
            <a:solidFill>
              <a:srgbClr val="FFC9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88906" y="419496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2" name="Text 50"/>
          <p:cNvSpPr/>
          <p:nvPr/>
        </p:nvSpPr>
        <p:spPr>
          <a:xfrm>
            <a:off x="6756400" y="4164806"/>
            <a:ext cx="116499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First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69063" y="4448969"/>
            <a:ext cx="5476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1000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CarePilot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1000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provides definitive diagnoses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1000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uploaded imaging. For high-risk findings, it recommends urgent professional review.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2631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spc="101" kern="0" dirty="0">
                <a:solidFill>
                  <a:srgbClr val="D88C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20087"/>
            <a:ext cx="11681340" cy="54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47" b="1" dirty="0">
                <a:solidFill>
                  <a:srgbClr val="3D3A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Safety &amp; Trust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4757" y="1240174"/>
            <a:ext cx="1155367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runs before helpfulness—always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757" y="1641406"/>
            <a:ext cx="5635494" cy="2955261"/>
          </a:xfrm>
          <a:custGeom>
            <a:avLst/>
            <a:gdLst/>
            <a:ahLst/>
            <a:cxnLst/>
            <a:rect l="l" t="t" r="r" b="b"/>
            <a:pathLst>
              <a:path w="5635494" h="2955261">
                <a:moveTo>
                  <a:pt x="109437" y="0"/>
                </a:moveTo>
                <a:lnTo>
                  <a:pt x="5526057" y="0"/>
                </a:lnTo>
                <a:cubicBezTo>
                  <a:pt x="5586498" y="0"/>
                  <a:pt x="5635494" y="37100"/>
                  <a:pt x="5635494" y="82866"/>
                </a:cubicBezTo>
                <a:lnTo>
                  <a:pt x="5635494" y="2872395"/>
                </a:lnTo>
                <a:cubicBezTo>
                  <a:pt x="5635494" y="2918161"/>
                  <a:pt x="5586498" y="2955261"/>
                  <a:pt x="5526057" y="2955261"/>
                </a:cubicBezTo>
                <a:lnTo>
                  <a:pt x="109437" y="2955261"/>
                </a:lnTo>
                <a:cubicBezTo>
                  <a:pt x="48997" y="2955261"/>
                  <a:pt x="0" y="2918161"/>
                  <a:pt x="0" y="2872395"/>
                </a:cubicBezTo>
                <a:lnTo>
                  <a:pt x="0" y="82866"/>
                </a:lnTo>
                <a:cubicBezTo>
                  <a:pt x="0" y="37131"/>
                  <a:pt x="49037" y="0"/>
                  <a:pt x="109437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6" name="Shape 4"/>
          <p:cNvSpPr/>
          <p:nvPr/>
        </p:nvSpPr>
        <p:spPr>
          <a:xfrm>
            <a:off x="569933" y="1860260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91189" y="0"/>
                </a:moveTo>
                <a:cubicBezTo>
                  <a:pt x="92828" y="0"/>
                  <a:pt x="94466" y="356"/>
                  <a:pt x="95962" y="1033"/>
                </a:cubicBezTo>
                <a:lnTo>
                  <a:pt x="163072" y="29494"/>
                </a:lnTo>
                <a:cubicBezTo>
                  <a:pt x="170909" y="32807"/>
                  <a:pt x="176750" y="40536"/>
                  <a:pt x="176715" y="49869"/>
                </a:cubicBezTo>
                <a:cubicBezTo>
                  <a:pt x="176537" y="85205"/>
                  <a:pt x="162003" y="149857"/>
                  <a:pt x="100629" y="179244"/>
                </a:cubicBezTo>
                <a:cubicBezTo>
                  <a:pt x="94680" y="182093"/>
                  <a:pt x="87770" y="182093"/>
                  <a:pt x="81821" y="179244"/>
                </a:cubicBezTo>
                <a:cubicBezTo>
                  <a:pt x="20411" y="149857"/>
                  <a:pt x="5913" y="85205"/>
                  <a:pt x="5735" y="49869"/>
                </a:cubicBezTo>
                <a:cubicBezTo>
                  <a:pt x="5699" y="40536"/>
                  <a:pt x="11541" y="32807"/>
                  <a:pt x="19378" y="29494"/>
                </a:cubicBezTo>
                <a:lnTo>
                  <a:pt x="86452" y="1033"/>
                </a:lnTo>
                <a:cubicBezTo>
                  <a:pt x="87948" y="356"/>
                  <a:pt x="89551" y="0"/>
                  <a:pt x="91189" y="0"/>
                </a:cubicBezTo>
                <a:close/>
                <a:moveTo>
                  <a:pt x="91189" y="23795"/>
                </a:moveTo>
                <a:lnTo>
                  <a:pt x="91189" y="158477"/>
                </a:lnTo>
                <a:cubicBezTo>
                  <a:pt x="140346" y="134682"/>
                  <a:pt x="153561" y="81963"/>
                  <a:pt x="153882" y="50403"/>
                </a:cubicBezTo>
                <a:lnTo>
                  <a:pt x="91189" y="23830"/>
                </a:lnTo>
                <a:lnTo>
                  <a:pt x="91189" y="23830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7" name="Text 5"/>
          <p:cNvSpPr/>
          <p:nvPr/>
        </p:nvSpPr>
        <p:spPr>
          <a:xfrm>
            <a:off x="838608" y="1811085"/>
            <a:ext cx="5133954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Detection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7135" y="2225017"/>
            <a:ext cx="5343689" cy="23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message is scanned for emergency signals. If detected: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135" y="2644488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7462" y="2661101"/>
            <a:ext cx="11854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8368" y="2608012"/>
            <a:ext cx="273567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emergency guidance provided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7135" y="3082196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5921" y="3098809"/>
            <a:ext cx="136784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8368" y="3045720"/>
            <a:ext cx="261713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Transactional tools blocked for that turn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7135" y="3519904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5351" y="3536518"/>
            <a:ext cx="136784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8368" y="3483429"/>
            <a:ext cx="1914974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logged for safety audit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7135" y="3957613"/>
            <a:ext cx="5270737" cy="401233"/>
          </a:xfrm>
          <a:custGeom>
            <a:avLst/>
            <a:gdLst/>
            <a:ahLst/>
            <a:cxnLst/>
            <a:rect l="l" t="t" r="r" b="b"/>
            <a:pathLst>
              <a:path w="5270737" h="401233">
                <a:moveTo>
                  <a:pt x="72952" y="0"/>
                </a:moveTo>
                <a:lnTo>
                  <a:pt x="5197785" y="0"/>
                </a:lnTo>
                <a:cubicBezTo>
                  <a:pt x="5238076" y="0"/>
                  <a:pt x="5270737" y="32662"/>
                  <a:pt x="5270737" y="72952"/>
                </a:cubicBezTo>
                <a:lnTo>
                  <a:pt x="5270737" y="328280"/>
                </a:lnTo>
                <a:cubicBezTo>
                  <a:pt x="5270737" y="368571"/>
                  <a:pt x="5238076" y="401233"/>
                  <a:pt x="5197785" y="401233"/>
                </a:cubicBezTo>
                <a:lnTo>
                  <a:pt x="72952" y="401233"/>
                </a:lnTo>
                <a:cubicBezTo>
                  <a:pt x="32662" y="401233"/>
                  <a:pt x="0" y="368571"/>
                  <a:pt x="0" y="328280"/>
                </a:cubicBezTo>
                <a:lnTo>
                  <a:pt x="0" y="72952"/>
                </a:lnTo>
                <a:cubicBezTo>
                  <a:pt x="0" y="32662"/>
                  <a:pt x="32662" y="0"/>
                  <a:pt x="7295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6562" y="4041640"/>
            <a:ext cx="511571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"chest pain + breathing difficulty" → Emergency instructions + no booking/refill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6619" y="1641406"/>
            <a:ext cx="5635494" cy="2297969"/>
          </a:xfrm>
          <a:custGeom>
            <a:avLst/>
            <a:gdLst/>
            <a:ahLst/>
            <a:cxnLst/>
            <a:rect l="l" t="t" r="r" b="b"/>
            <a:pathLst>
              <a:path w="5635494" h="2297969">
                <a:moveTo>
                  <a:pt x="109429" y="0"/>
                </a:moveTo>
                <a:lnTo>
                  <a:pt x="5526065" y="0"/>
                </a:lnTo>
                <a:cubicBezTo>
                  <a:pt x="5586501" y="0"/>
                  <a:pt x="5635494" y="48993"/>
                  <a:pt x="5635494" y="109429"/>
                </a:cubicBezTo>
                <a:lnTo>
                  <a:pt x="5635494" y="2188539"/>
                </a:lnTo>
                <a:cubicBezTo>
                  <a:pt x="5635494" y="2248935"/>
                  <a:pt x="5586461" y="2297969"/>
                  <a:pt x="5526065" y="2297969"/>
                </a:cubicBezTo>
                <a:lnTo>
                  <a:pt x="109429" y="2297969"/>
                </a:lnTo>
                <a:cubicBezTo>
                  <a:pt x="48993" y="2297969"/>
                  <a:pt x="0" y="2248975"/>
                  <a:pt x="0" y="2188539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4714" dist="36476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0396" y="1860260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79791" y="88340"/>
                </a:moveTo>
                <a:cubicBezTo>
                  <a:pt x="103382" y="88340"/>
                  <a:pt x="122536" y="69186"/>
                  <a:pt x="122536" y="45595"/>
                </a:cubicBezTo>
                <a:cubicBezTo>
                  <a:pt x="122536" y="22003"/>
                  <a:pt x="103382" y="2850"/>
                  <a:pt x="79791" y="2850"/>
                </a:cubicBezTo>
                <a:cubicBezTo>
                  <a:pt x="56199" y="2850"/>
                  <a:pt x="37046" y="22003"/>
                  <a:pt x="37046" y="45595"/>
                </a:cubicBezTo>
                <a:cubicBezTo>
                  <a:pt x="37046" y="69186"/>
                  <a:pt x="56199" y="88340"/>
                  <a:pt x="79791" y="88340"/>
                </a:cubicBezTo>
                <a:close/>
                <a:moveTo>
                  <a:pt x="69211" y="108287"/>
                </a:moveTo>
                <a:cubicBezTo>
                  <a:pt x="34125" y="108287"/>
                  <a:pt x="5699" y="136713"/>
                  <a:pt x="5699" y="171799"/>
                </a:cubicBezTo>
                <a:cubicBezTo>
                  <a:pt x="5699" y="177641"/>
                  <a:pt x="10437" y="182378"/>
                  <a:pt x="16279" y="182378"/>
                </a:cubicBezTo>
                <a:lnTo>
                  <a:pt x="105865" y="182378"/>
                </a:lnTo>
                <a:cubicBezTo>
                  <a:pt x="92970" y="167204"/>
                  <a:pt x="85490" y="147648"/>
                  <a:pt x="85490" y="126953"/>
                </a:cubicBezTo>
                <a:lnTo>
                  <a:pt x="85490" y="115874"/>
                </a:lnTo>
                <a:cubicBezTo>
                  <a:pt x="85490" y="113274"/>
                  <a:pt x="85846" y="110709"/>
                  <a:pt x="86523" y="108287"/>
                </a:cubicBezTo>
                <a:lnTo>
                  <a:pt x="69211" y="108287"/>
                </a:lnTo>
                <a:close/>
                <a:moveTo>
                  <a:pt x="158619" y="174008"/>
                </a:moveTo>
                <a:lnTo>
                  <a:pt x="153882" y="176252"/>
                </a:lnTo>
                <a:lnTo>
                  <a:pt x="153882" y="109249"/>
                </a:lnTo>
                <a:lnTo>
                  <a:pt x="188078" y="120648"/>
                </a:lnTo>
                <a:lnTo>
                  <a:pt x="188078" y="127629"/>
                </a:lnTo>
                <a:cubicBezTo>
                  <a:pt x="188078" y="147506"/>
                  <a:pt x="176608" y="165565"/>
                  <a:pt x="158619" y="174043"/>
                </a:cubicBezTo>
                <a:close/>
                <a:moveTo>
                  <a:pt x="150284" y="92436"/>
                </a:moveTo>
                <a:lnTo>
                  <a:pt x="110389" y="105723"/>
                </a:lnTo>
                <a:cubicBezTo>
                  <a:pt x="105723" y="107290"/>
                  <a:pt x="102588" y="111636"/>
                  <a:pt x="102588" y="116551"/>
                </a:cubicBezTo>
                <a:lnTo>
                  <a:pt x="102588" y="127629"/>
                </a:lnTo>
                <a:cubicBezTo>
                  <a:pt x="102588" y="154131"/>
                  <a:pt x="117905" y="178246"/>
                  <a:pt x="141842" y="189503"/>
                </a:cubicBezTo>
                <a:lnTo>
                  <a:pt x="148432" y="192602"/>
                </a:lnTo>
                <a:cubicBezTo>
                  <a:pt x="150142" y="193385"/>
                  <a:pt x="151994" y="193813"/>
                  <a:pt x="153846" y="193813"/>
                </a:cubicBezTo>
                <a:cubicBezTo>
                  <a:pt x="155698" y="193813"/>
                  <a:pt x="157586" y="193385"/>
                  <a:pt x="159261" y="192602"/>
                </a:cubicBezTo>
                <a:lnTo>
                  <a:pt x="165850" y="189503"/>
                </a:lnTo>
                <a:cubicBezTo>
                  <a:pt x="189859" y="178211"/>
                  <a:pt x="205176" y="154096"/>
                  <a:pt x="205176" y="127594"/>
                </a:cubicBezTo>
                <a:lnTo>
                  <a:pt x="205176" y="116516"/>
                </a:lnTo>
                <a:cubicBezTo>
                  <a:pt x="205176" y="111600"/>
                  <a:pt x="202041" y="107254"/>
                  <a:pt x="197375" y="105687"/>
                </a:cubicBezTo>
                <a:lnTo>
                  <a:pt x="157480" y="92400"/>
                </a:lnTo>
                <a:cubicBezTo>
                  <a:pt x="155129" y="91617"/>
                  <a:pt x="152599" y="91617"/>
                  <a:pt x="150284" y="92400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2" name="Text 20"/>
          <p:cNvSpPr/>
          <p:nvPr/>
        </p:nvSpPr>
        <p:spPr>
          <a:xfrm>
            <a:off x="6673171" y="1823785"/>
            <a:ext cx="5133954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Consent &amp; Action Safety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87236" y="2225017"/>
            <a:ext cx="36476" cy="437708"/>
          </a:xfrm>
          <a:custGeom>
            <a:avLst/>
            <a:gdLst/>
            <a:ahLst/>
            <a:cxnLst/>
            <a:rect l="l" t="t" r="r" b="b"/>
            <a:pathLst>
              <a:path w="36476" h="437708">
                <a:moveTo>
                  <a:pt x="0" y="0"/>
                </a:moveTo>
                <a:lnTo>
                  <a:pt x="36476" y="0"/>
                </a:lnTo>
                <a:lnTo>
                  <a:pt x="36476" y="437708"/>
                </a:lnTo>
                <a:lnTo>
                  <a:pt x="0" y="437708"/>
                </a:lnTo>
                <a:lnTo>
                  <a:pt x="0" y="0"/>
                </a:ln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6551376" y="2225017"/>
            <a:ext cx="516131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Short-Lived Consent Tokens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1376" y="2480347"/>
            <a:ext cx="5152191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transactional tool requires fresh consent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7236" y="2772153"/>
            <a:ext cx="36476" cy="437708"/>
          </a:xfrm>
          <a:custGeom>
            <a:avLst/>
            <a:gdLst/>
            <a:ahLst/>
            <a:cxnLst/>
            <a:rect l="l" t="t" r="r" b="b"/>
            <a:pathLst>
              <a:path w="36476" h="437708">
                <a:moveTo>
                  <a:pt x="0" y="0"/>
                </a:moveTo>
                <a:lnTo>
                  <a:pt x="36476" y="0"/>
                </a:lnTo>
                <a:lnTo>
                  <a:pt x="36476" y="437708"/>
                </a:lnTo>
                <a:lnTo>
                  <a:pt x="0" y="437708"/>
                </a:lnTo>
                <a:lnTo>
                  <a:pt x="0" y="0"/>
                </a:ln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7" name="Text 25"/>
          <p:cNvSpPr/>
          <p:nvPr/>
        </p:nvSpPr>
        <p:spPr>
          <a:xfrm>
            <a:off x="6551376" y="2772153"/>
            <a:ext cx="516131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Hook Blocking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51376" y="3027482"/>
            <a:ext cx="5152191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Missing/expired consent blocks tool execution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7236" y="3319288"/>
            <a:ext cx="36476" cy="437708"/>
          </a:xfrm>
          <a:custGeom>
            <a:avLst/>
            <a:gdLst/>
            <a:ahLst/>
            <a:cxnLst/>
            <a:rect l="l" t="t" r="r" b="b"/>
            <a:pathLst>
              <a:path w="36476" h="437708">
                <a:moveTo>
                  <a:pt x="0" y="0"/>
                </a:moveTo>
                <a:lnTo>
                  <a:pt x="36476" y="0"/>
                </a:lnTo>
                <a:lnTo>
                  <a:pt x="36476" y="437708"/>
                </a:lnTo>
                <a:lnTo>
                  <a:pt x="0" y="437708"/>
                </a:lnTo>
                <a:lnTo>
                  <a:pt x="0" y="0"/>
                </a:lnTo>
                <a:close/>
              </a:path>
            </a:pathLst>
          </a:custGeom>
          <a:solidFill>
            <a:srgbClr val="C5C1B9"/>
          </a:solidFill>
          <a:ln/>
        </p:spPr>
      </p:sp>
      <p:sp>
        <p:nvSpPr>
          <p:cNvPr id="30" name="Text 28"/>
          <p:cNvSpPr/>
          <p:nvPr/>
        </p:nvSpPr>
        <p:spPr>
          <a:xfrm>
            <a:off x="6551376" y="3319288"/>
            <a:ext cx="516131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Irreversible Actions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51376" y="3574618"/>
            <a:ext cx="5152191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approval required for all actions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275" y="357275"/>
            <a:ext cx="1153997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spc="98" kern="0" dirty="0">
                <a:solidFill>
                  <a:srgbClr val="D88C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275" y="607367"/>
            <a:ext cx="11691815" cy="535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76" b="1" dirty="0">
                <a:solidFill>
                  <a:srgbClr val="3D3A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End-to-End User Journey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275" y="1143279"/>
            <a:ext cx="1156676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symptom to action—seamlessly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9119" y="1464826"/>
            <a:ext cx="11618129" cy="5144474"/>
          </a:xfrm>
          <a:custGeom>
            <a:avLst/>
            <a:gdLst/>
            <a:ahLst/>
            <a:cxnLst/>
            <a:rect l="l" t="t" r="r" b="b"/>
            <a:pathLst>
              <a:path w="11618129" h="5144474">
                <a:moveTo>
                  <a:pt x="179678" y="0"/>
                </a:moveTo>
                <a:lnTo>
                  <a:pt x="11438451" y="0"/>
                </a:lnTo>
                <a:cubicBezTo>
                  <a:pt x="11537685" y="0"/>
                  <a:pt x="11618129" y="47010"/>
                  <a:pt x="11618129" y="104999"/>
                </a:cubicBezTo>
                <a:lnTo>
                  <a:pt x="11618129" y="5039476"/>
                </a:lnTo>
                <a:cubicBezTo>
                  <a:pt x="11618129" y="5097465"/>
                  <a:pt x="11537685" y="5144474"/>
                  <a:pt x="11438451" y="5144474"/>
                </a:cubicBezTo>
                <a:lnTo>
                  <a:pt x="179678" y="5144474"/>
                </a:lnTo>
                <a:cubicBezTo>
                  <a:pt x="80445" y="5144474"/>
                  <a:pt x="0" y="5097465"/>
                  <a:pt x="0" y="5039476"/>
                </a:cubicBezTo>
                <a:lnTo>
                  <a:pt x="0" y="104999"/>
                </a:lnTo>
                <a:cubicBezTo>
                  <a:pt x="0" y="47048"/>
                  <a:pt x="80511" y="0"/>
                  <a:pt x="1796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591" dist="35727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0279" y="1714919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214365" y="40193"/>
                </a:moveTo>
                <a:cubicBezTo>
                  <a:pt x="214365" y="61211"/>
                  <a:pt x="189621" y="92570"/>
                  <a:pt x="178944" y="105089"/>
                </a:cubicBezTo>
                <a:cubicBezTo>
                  <a:pt x="177353" y="106931"/>
                  <a:pt x="175009" y="107643"/>
                  <a:pt x="172874" y="107182"/>
                </a:cubicBezTo>
                <a:lnTo>
                  <a:pt x="133978" y="107182"/>
                </a:lnTo>
                <a:cubicBezTo>
                  <a:pt x="126567" y="107182"/>
                  <a:pt x="120580" y="113170"/>
                  <a:pt x="120580" y="120580"/>
                </a:cubicBezTo>
                <a:cubicBezTo>
                  <a:pt x="120580" y="127991"/>
                  <a:pt x="126567" y="133978"/>
                  <a:pt x="133978" y="133978"/>
                </a:cubicBezTo>
                <a:lnTo>
                  <a:pt x="174171" y="133978"/>
                </a:lnTo>
                <a:cubicBezTo>
                  <a:pt x="196362" y="133978"/>
                  <a:pt x="214365" y="151981"/>
                  <a:pt x="214365" y="174171"/>
                </a:cubicBezTo>
                <a:cubicBezTo>
                  <a:pt x="214365" y="196362"/>
                  <a:pt x="196362" y="214365"/>
                  <a:pt x="174171" y="214365"/>
                </a:cubicBezTo>
                <a:lnTo>
                  <a:pt x="58448" y="214365"/>
                </a:lnTo>
                <a:cubicBezTo>
                  <a:pt x="62090" y="210220"/>
                  <a:pt x="66528" y="204903"/>
                  <a:pt x="71008" y="198957"/>
                </a:cubicBezTo>
                <a:cubicBezTo>
                  <a:pt x="73646" y="195440"/>
                  <a:pt x="76367" y="191589"/>
                  <a:pt x="78963" y="187569"/>
                </a:cubicBezTo>
                <a:lnTo>
                  <a:pt x="174171" y="187569"/>
                </a:lnTo>
                <a:cubicBezTo>
                  <a:pt x="181582" y="187569"/>
                  <a:pt x="187569" y="181582"/>
                  <a:pt x="187569" y="174171"/>
                </a:cubicBezTo>
                <a:cubicBezTo>
                  <a:pt x="187569" y="166761"/>
                  <a:pt x="181582" y="160774"/>
                  <a:pt x="174171" y="160774"/>
                </a:cubicBezTo>
                <a:lnTo>
                  <a:pt x="133978" y="160774"/>
                </a:lnTo>
                <a:cubicBezTo>
                  <a:pt x="111788" y="160774"/>
                  <a:pt x="93785" y="142770"/>
                  <a:pt x="93785" y="120580"/>
                </a:cubicBezTo>
                <a:cubicBezTo>
                  <a:pt x="93785" y="98390"/>
                  <a:pt x="111788" y="80387"/>
                  <a:pt x="133978" y="80387"/>
                </a:cubicBezTo>
                <a:lnTo>
                  <a:pt x="150642" y="80387"/>
                </a:lnTo>
                <a:cubicBezTo>
                  <a:pt x="141849" y="67198"/>
                  <a:pt x="133978" y="52042"/>
                  <a:pt x="133978" y="40193"/>
                </a:cubicBezTo>
                <a:cubicBezTo>
                  <a:pt x="133978" y="18003"/>
                  <a:pt x="151981" y="0"/>
                  <a:pt x="174171" y="0"/>
                </a:cubicBezTo>
                <a:cubicBezTo>
                  <a:pt x="196362" y="0"/>
                  <a:pt x="214365" y="18003"/>
                  <a:pt x="214365" y="40193"/>
                </a:cubicBezTo>
                <a:close/>
                <a:moveTo>
                  <a:pt x="49028" y="204777"/>
                </a:moveTo>
                <a:cubicBezTo>
                  <a:pt x="47437" y="206577"/>
                  <a:pt x="46013" y="208168"/>
                  <a:pt x="44799" y="209508"/>
                </a:cubicBezTo>
                <a:lnTo>
                  <a:pt x="44045" y="210345"/>
                </a:lnTo>
                <a:lnTo>
                  <a:pt x="43962" y="210262"/>
                </a:lnTo>
                <a:cubicBezTo>
                  <a:pt x="41449" y="212188"/>
                  <a:pt x="37849" y="211936"/>
                  <a:pt x="35588" y="209508"/>
                </a:cubicBezTo>
                <a:cubicBezTo>
                  <a:pt x="25037" y="198036"/>
                  <a:pt x="0" y="168519"/>
                  <a:pt x="0" y="147376"/>
                </a:cubicBezTo>
                <a:cubicBezTo>
                  <a:pt x="0" y="125186"/>
                  <a:pt x="18003" y="107182"/>
                  <a:pt x="40193" y="107182"/>
                </a:cubicBezTo>
                <a:cubicBezTo>
                  <a:pt x="62384" y="107182"/>
                  <a:pt x="80387" y="125186"/>
                  <a:pt x="80387" y="147376"/>
                </a:cubicBezTo>
                <a:cubicBezTo>
                  <a:pt x="80387" y="159936"/>
                  <a:pt x="71553" y="175427"/>
                  <a:pt x="62174" y="188365"/>
                </a:cubicBezTo>
                <a:cubicBezTo>
                  <a:pt x="57694" y="194519"/>
                  <a:pt x="53089" y="200088"/>
                  <a:pt x="49279" y="204484"/>
                </a:cubicBezTo>
                <a:lnTo>
                  <a:pt x="49028" y="204777"/>
                </a:lnTo>
                <a:close/>
                <a:moveTo>
                  <a:pt x="53591" y="147376"/>
                </a:moveTo>
                <a:cubicBezTo>
                  <a:pt x="53591" y="139981"/>
                  <a:pt x="47588" y="133978"/>
                  <a:pt x="40193" y="133978"/>
                </a:cubicBezTo>
                <a:cubicBezTo>
                  <a:pt x="32799" y="133978"/>
                  <a:pt x="26796" y="139981"/>
                  <a:pt x="26796" y="147376"/>
                </a:cubicBezTo>
                <a:cubicBezTo>
                  <a:pt x="26796" y="154770"/>
                  <a:pt x="32799" y="160774"/>
                  <a:pt x="40193" y="160774"/>
                </a:cubicBezTo>
                <a:cubicBezTo>
                  <a:pt x="47588" y="160774"/>
                  <a:pt x="53591" y="154770"/>
                  <a:pt x="53591" y="147376"/>
                </a:cubicBezTo>
                <a:close/>
                <a:moveTo>
                  <a:pt x="174171" y="53591"/>
                </a:moveTo>
                <a:cubicBezTo>
                  <a:pt x="181566" y="53591"/>
                  <a:pt x="187569" y="47588"/>
                  <a:pt x="187569" y="40193"/>
                </a:cubicBezTo>
                <a:cubicBezTo>
                  <a:pt x="187569" y="32799"/>
                  <a:pt x="181566" y="26796"/>
                  <a:pt x="174171" y="26796"/>
                </a:cubicBezTo>
                <a:cubicBezTo>
                  <a:pt x="166777" y="26796"/>
                  <a:pt x="160774" y="32799"/>
                  <a:pt x="160774" y="40193"/>
                </a:cubicBezTo>
                <a:cubicBezTo>
                  <a:pt x="160774" y="47588"/>
                  <a:pt x="166777" y="53591"/>
                  <a:pt x="174171" y="53591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7" name="Text 5"/>
          <p:cNvSpPr/>
          <p:nvPr/>
        </p:nvSpPr>
        <p:spPr>
          <a:xfrm>
            <a:off x="799540" y="1679191"/>
            <a:ext cx="6341626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Fatigue to Lab Booking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484" y="2143648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9" name="Text 7"/>
          <p:cNvSpPr/>
          <p:nvPr/>
        </p:nvSpPr>
        <p:spPr>
          <a:xfrm>
            <a:off x="457756" y="2105548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3668" y="2143648"/>
            <a:ext cx="608260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Reports Symptom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3668" y="2429468"/>
            <a:ext cx="60736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"I've been feeling unusually tired for the past week."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484" y="2786743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756" y="2748643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3668" y="2786743"/>
            <a:ext cx="608260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Triage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3668" y="3072563"/>
            <a:ext cx="60736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CarePilot classifies as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008236"/>
                </a:solidFill>
                <a:highlight>
                  <a:srgbClr val="DCFCE7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ROUTINE 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—no emergency signals detected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484" y="3429837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756" y="3391737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3668" y="3429837"/>
            <a:ext cx="608260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Memory-Grounded Guidance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3668" y="3715657"/>
            <a:ext cx="60736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 user's age, conditions, and suggests CBC + thyroid panel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484" y="4072932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756" y="4034832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3668" y="4072932"/>
            <a:ext cx="608260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Approves 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3668" y="4358752"/>
            <a:ext cx="60736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"Find labs under $100 within 10 miles with morning availability"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484" y="4716026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756" y="4677926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3668" y="4716026"/>
            <a:ext cx="608260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CarePilot Ranks Options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3668" y="5001846"/>
            <a:ext cx="60736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Returns 3 labs with distance, availability, and pricing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3484" y="5359121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D88C7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756" y="5321021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3668" y="5359121"/>
            <a:ext cx="608260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Booking Confirmed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3668" y="5644941"/>
            <a:ext cx="60736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selects option → CarePilot executes booking → Status: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008236"/>
                </a:solidFill>
                <a:highlight>
                  <a:srgbClr val="DCFCE7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succeeded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3484" y="6002215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5A6B5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756" y="5964115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3668" y="6002215"/>
            <a:ext cx="608260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D3A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Follow-up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3668" y="6288035"/>
            <a:ext cx="60736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A3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Reminder scheduled + follow-up nudge to review results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CarePilot - Your Personal AI Family Doctor Assistant</dc:title>
  <dc:subject>CarePilot - Your Personal AI Family Doctor Assistant</dc:subject>
  <dc:creator>Kimi</dc:creator>
  <cp:lastModifiedBy>Kimi</cp:lastModifiedBy>
  <cp:revision>1</cp:revision>
  <dcterms:created xsi:type="dcterms:W3CDTF">2026-02-07T21:39:34Z</dcterms:created>
  <dcterms:modified xsi:type="dcterms:W3CDTF">2026-02-07T21:39:34Z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{"Label":"CarePilot - Your Personal AI Family Doctor Assistant","ContentProducer":"001191110108MACG2KBH8F10000","ProduceID":"19c39b4d-b122-8751-8000-00006da10c18","ReservedCode1":"","ContentPropagator":"001191110108MACG2KBH8F20000","PropagateID":"19c39b4d-b122-8751-8000-00006da10c18","ReservedCode2":""}</vt:lpwstr>
  </property>
</Properties>
</file>